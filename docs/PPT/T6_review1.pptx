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6" r:id="rId9"/>
    <p:sldId id="267" r:id="rId10"/>
    <p:sldId id="268" r:id="rId11"/>
    <p:sldId id="269" r:id="rId12"/>
    <p:sldId id="270" r:id="rId13"/>
    <p:sldId id="271" r:id="rId14"/>
    <p:sldId id="272" r:id="rId15"/>
    <p:sldId id="273" r:id="rId16"/>
    <p:sldId id="274" r:id="rId17"/>
    <p:sldId id="275"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629"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752977" y="2331846"/>
            <a:ext cx="4686045" cy="1031239"/>
          </a:xfrm>
          <a:prstGeom prst="rect">
            <a:avLst/>
          </a:prstGeom>
        </p:spPr>
        <p:txBody>
          <a:bodyPr wrap="square" lIns="0" tIns="0" rIns="0" bIns="0">
            <a:spAutoFit/>
          </a:bodyPr>
          <a:lstStyle>
            <a:lvl1pPr>
              <a:defRPr sz="3200" b="1" i="0">
                <a:solidFill>
                  <a:srgbClr val="FF0000"/>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7999"/>
          </a:xfrm>
          <a:prstGeom prst="rect">
            <a:avLst/>
          </a:prstGeom>
        </p:spPr>
      </p:pic>
      <p:sp>
        <p:nvSpPr>
          <p:cNvPr id="2" name="Holder 2"/>
          <p:cNvSpPr>
            <a:spLocks noGrp="1"/>
          </p:cNvSpPr>
          <p:nvPr>
            <p:ph type="title"/>
          </p:nvPr>
        </p:nvSpPr>
        <p:spPr>
          <a:xfrm>
            <a:off x="961745" y="95250"/>
            <a:ext cx="5380253" cy="700862"/>
          </a:xfrm>
          <a:prstGeom prst="rect">
            <a:avLst/>
          </a:prstGeom>
        </p:spPr>
        <p:txBody>
          <a:bodyPr wrap="square" lIns="0" tIns="0" rIns="0" bIns="0">
            <a:spAutoFit/>
          </a:bodyPr>
          <a:lstStyle>
            <a:lvl1pPr>
              <a:defRPr sz="3200" b="1" i="0">
                <a:solidFill>
                  <a:srgbClr val="FF0000"/>
                </a:solidFill>
                <a:latin typeface="Arial"/>
                <a:cs typeface="Arial"/>
              </a:defRPr>
            </a:lvl1pPr>
          </a:lstStyle>
          <a:p>
            <a:endParaRPr/>
          </a:p>
        </p:txBody>
      </p:sp>
      <p:sp>
        <p:nvSpPr>
          <p:cNvPr id="3" name="Holder 3"/>
          <p:cNvSpPr>
            <a:spLocks noGrp="1"/>
          </p:cNvSpPr>
          <p:nvPr>
            <p:ph type="body" idx="1"/>
          </p:nvPr>
        </p:nvSpPr>
        <p:spPr>
          <a:xfrm>
            <a:off x="1305305" y="1210691"/>
            <a:ext cx="9913620" cy="44227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10/4/2026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hyperlink" Target="https://arxiv.org/abs/2601.19927?utm_source=chatgpt.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g"/><Relationship Id="rId7" Type="http://schemas.openxmlformats.org/officeDocument/2006/relationships/image" Target="../media/image13.png"/><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arxiv.org/abs/2310.11511" TargetMode="External"/><Relationship Id="rId2" Type="http://schemas.openxmlformats.org/officeDocument/2006/relationships/hyperlink" Target="https://arxiv.org/pdf/2601.19927" TargetMode="External"/><Relationship Id="rId1" Type="http://schemas.openxmlformats.org/officeDocument/2006/relationships/slideLayout" Target="../slideLayouts/slideLayout2.xml"/><Relationship Id="rId6" Type="http://schemas.openxmlformats.org/officeDocument/2006/relationships/hyperlink" Target="https://arxiv.org/abs/2005.11401" TargetMode="External"/><Relationship Id="rId5" Type="http://schemas.openxmlformats.org/officeDocument/2006/relationships/hyperlink" Target="https://arxiv.org/abs/2210.08726?utm_source=chatgpt.com" TargetMode="External"/><Relationship Id="rId4" Type="http://schemas.openxmlformats.org/officeDocument/2006/relationships/hyperlink" Target="https://arxiv.org/abs/2301.12652?utm_source=chatgpt.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9"/>
          </a:xfrm>
          <a:prstGeom prst="rect">
            <a:avLst/>
          </a:prstGeom>
        </p:spPr>
      </p:pic>
      <p:sp>
        <p:nvSpPr>
          <p:cNvPr id="3" name="object 3" descr="$PPTXTitle"/>
          <p:cNvSpPr txBox="1">
            <a:spLocks noGrp="1"/>
          </p:cNvSpPr>
          <p:nvPr>
            <p:ph type="title"/>
          </p:nvPr>
        </p:nvSpPr>
        <p:spPr>
          <a:xfrm>
            <a:off x="1340358" y="2802382"/>
            <a:ext cx="9219565" cy="756920"/>
          </a:xfrm>
          <a:prstGeom prst="rect">
            <a:avLst/>
          </a:prstGeom>
        </p:spPr>
        <p:txBody>
          <a:bodyPr vert="horz" wrap="square" lIns="0" tIns="12700" rIns="0" bIns="0" rtlCol="0">
            <a:spAutoFit/>
          </a:bodyPr>
          <a:lstStyle/>
          <a:p>
            <a:pPr marL="303530" marR="5080" indent="-291465">
              <a:lnSpc>
                <a:spcPct val="100000"/>
              </a:lnSpc>
              <a:spcBef>
                <a:spcPts val="100"/>
              </a:spcBef>
            </a:pPr>
            <a:r>
              <a:rPr sz="2400" spc="-10" dirty="0">
                <a:solidFill>
                  <a:srgbClr val="30859C"/>
                </a:solidFill>
              </a:rPr>
              <a:t>TRUSTRAG:</a:t>
            </a:r>
            <a:r>
              <a:rPr sz="2400" spc="-45" dirty="0">
                <a:solidFill>
                  <a:srgbClr val="30859C"/>
                </a:solidFill>
              </a:rPr>
              <a:t> </a:t>
            </a:r>
            <a:r>
              <a:rPr sz="2400" dirty="0">
                <a:solidFill>
                  <a:srgbClr val="30859C"/>
                </a:solidFill>
              </a:rPr>
              <a:t>A</a:t>
            </a:r>
            <a:r>
              <a:rPr sz="2400" spc="-55" dirty="0">
                <a:solidFill>
                  <a:srgbClr val="30859C"/>
                </a:solidFill>
              </a:rPr>
              <a:t> </a:t>
            </a:r>
            <a:r>
              <a:rPr sz="2400" dirty="0">
                <a:solidFill>
                  <a:srgbClr val="30859C"/>
                </a:solidFill>
              </a:rPr>
              <a:t>Modular</a:t>
            </a:r>
            <a:r>
              <a:rPr sz="2400" spc="-60" dirty="0">
                <a:solidFill>
                  <a:srgbClr val="30859C"/>
                </a:solidFill>
              </a:rPr>
              <a:t> </a:t>
            </a:r>
            <a:r>
              <a:rPr sz="2400" dirty="0">
                <a:solidFill>
                  <a:srgbClr val="30859C"/>
                </a:solidFill>
              </a:rPr>
              <a:t>Framework</a:t>
            </a:r>
            <a:r>
              <a:rPr sz="2400" spc="-80" dirty="0">
                <a:solidFill>
                  <a:srgbClr val="30859C"/>
                </a:solidFill>
              </a:rPr>
              <a:t> </a:t>
            </a:r>
            <a:r>
              <a:rPr sz="2400" dirty="0">
                <a:solidFill>
                  <a:srgbClr val="30859C"/>
                </a:solidFill>
              </a:rPr>
              <a:t>for</a:t>
            </a:r>
            <a:r>
              <a:rPr sz="2400" spc="-70" dirty="0">
                <a:solidFill>
                  <a:srgbClr val="30859C"/>
                </a:solidFill>
              </a:rPr>
              <a:t> </a:t>
            </a:r>
            <a:r>
              <a:rPr sz="2400" dirty="0">
                <a:solidFill>
                  <a:srgbClr val="30859C"/>
                </a:solidFill>
              </a:rPr>
              <a:t>Detecting</a:t>
            </a:r>
            <a:r>
              <a:rPr sz="2400" spc="-55" dirty="0">
                <a:solidFill>
                  <a:srgbClr val="30859C"/>
                </a:solidFill>
              </a:rPr>
              <a:t> </a:t>
            </a:r>
            <a:r>
              <a:rPr sz="2400" dirty="0">
                <a:solidFill>
                  <a:srgbClr val="30859C"/>
                </a:solidFill>
              </a:rPr>
              <a:t>and</a:t>
            </a:r>
            <a:r>
              <a:rPr sz="2400" spc="-65" dirty="0">
                <a:solidFill>
                  <a:srgbClr val="30859C"/>
                </a:solidFill>
              </a:rPr>
              <a:t> </a:t>
            </a:r>
            <a:r>
              <a:rPr sz="2400" spc="-10" dirty="0">
                <a:solidFill>
                  <a:srgbClr val="30859C"/>
                </a:solidFill>
              </a:rPr>
              <a:t>Mitigating </a:t>
            </a:r>
            <a:r>
              <a:rPr sz="2400" dirty="0">
                <a:solidFill>
                  <a:srgbClr val="30859C"/>
                </a:solidFill>
              </a:rPr>
              <a:t>Hallucinations</a:t>
            </a:r>
            <a:r>
              <a:rPr sz="2400" spc="-75" dirty="0">
                <a:solidFill>
                  <a:srgbClr val="30859C"/>
                </a:solidFill>
              </a:rPr>
              <a:t> </a:t>
            </a:r>
            <a:r>
              <a:rPr sz="2400" dirty="0">
                <a:solidFill>
                  <a:srgbClr val="30859C"/>
                </a:solidFill>
              </a:rPr>
              <a:t>in</a:t>
            </a:r>
            <a:r>
              <a:rPr sz="2400" spc="-65" dirty="0">
                <a:solidFill>
                  <a:srgbClr val="30859C"/>
                </a:solidFill>
              </a:rPr>
              <a:t> </a:t>
            </a:r>
            <a:r>
              <a:rPr sz="2400" spc="-10" dirty="0">
                <a:solidFill>
                  <a:srgbClr val="30859C"/>
                </a:solidFill>
              </a:rPr>
              <a:t>Retrieval-</a:t>
            </a:r>
            <a:r>
              <a:rPr sz="2400" dirty="0">
                <a:solidFill>
                  <a:srgbClr val="30859C"/>
                </a:solidFill>
              </a:rPr>
              <a:t>Augmented</a:t>
            </a:r>
            <a:r>
              <a:rPr sz="2400" spc="-40" dirty="0">
                <a:solidFill>
                  <a:srgbClr val="30859C"/>
                </a:solidFill>
              </a:rPr>
              <a:t> </a:t>
            </a:r>
            <a:r>
              <a:rPr sz="2400" dirty="0">
                <a:solidFill>
                  <a:srgbClr val="30859C"/>
                </a:solidFill>
              </a:rPr>
              <a:t>Generation</a:t>
            </a:r>
            <a:r>
              <a:rPr sz="2400" spc="-70" dirty="0">
                <a:solidFill>
                  <a:srgbClr val="30859C"/>
                </a:solidFill>
              </a:rPr>
              <a:t> </a:t>
            </a:r>
            <a:r>
              <a:rPr sz="2400" spc="-10" dirty="0">
                <a:solidFill>
                  <a:srgbClr val="30859C"/>
                </a:solidFill>
              </a:rPr>
              <a:t>Systems</a:t>
            </a:r>
            <a:endParaRPr sz="2400" dirty="0"/>
          </a:p>
        </p:txBody>
      </p:sp>
      <p:sp>
        <p:nvSpPr>
          <p:cNvPr id="4" name="object 4"/>
          <p:cNvSpPr txBox="1"/>
          <p:nvPr/>
        </p:nvSpPr>
        <p:spPr>
          <a:xfrm>
            <a:off x="2030348" y="4390466"/>
            <a:ext cx="4839970" cy="2273300"/>
          </a:xfrm>
          <a:prstGeom prst="rect">
            <a:avLst/>
          </a:prstGeom>
          <a:ln w="9525">
            <a:solidFill>
              <a:srgbClr val="000000"/>
            </a:solidFill>
          </a:ln>
        </p:spPr>
        <p:txBody>
          <a:bodyPr vert="horz" wrap="square" lIns="0" tIns="37465" rIns="0" bIns="0" rtlCol="0">
            <a:spAutoFit/>
          </a:bodyPr>
          <a:lstStyle/>
          <a:p>
            <a:pPr algn="ctr">
              <a:lnSpc>
                <a:spcPct val="100000"/>
              </a:lnSpc>
              <a:spcBef>
                <a:spcPts val="295"/>
              </a:spcBef>
            </a:pPr>
            <a:r>
              <a:rPr sz="2000" b="1" u="sng" dirty="0">
                <a:uFill>
                  <a:solidFill>
                    <a:srgbClr val="000000"/>
                  </a:solidFill>
                </a:uFill>
                <a:latin typeface="Times New Roman"/>
                <a:cs typeface="Times New Roman"/>
              </a:rPr>
              <a:t>Team</a:t>
            </a:r>
            <a:r>
              <a:rPr sz="2000" b="1" u="sng" spc="-20" dirty="0">
                <a:uFill>
                  <a:solidFill>
                    <a:srgbClr val="000000"/>
                  </a:solidFill>
                </a:uFill>
                <a:latin typeface="Times New Roman"/>
                <a:cs typeface="Times New Roman"/>
              </a:rPr>
              <a:t> </a:t>
            </a:r>
            <a:r>
              <a:rPr sz="2000" b="1" u="sng" spc="-10" dirty="0">
                <a:uFill>
                  <a:solidFill>
                    <a:srgbClr val="000000"/>
                  </a:solidFill>
                </a:uFill>
                <a:latin typeface="Times New Roman"/>
                <a:cs typeface="Times New Roman"/>
              </a:rPr>
              <a:t>Members</a:t>
            </a:r>
            <a:endParaRPr sz="2000">
              <a:latin typeface="Times New Roman"/>
              <a:cs typeface="Times New Roman"/>
            </a:endParaRPr>
          </a:p>
          <a:p>
            <a:pPr>
              <a:lnSpc>
                <a:spcPct val="100000"/>
              </a:lnSpc>
              <a:spcBef>
                <a:spcPts val="114"/>
              </a:spcBef>
            </a:pPr>
            <a:endParaRPr sz="2000">
              <a:latin typeface="Times New Roman"/>
              <a:cs typeface="Times New Roman"/>
            </a:endParaRPr>
          </a:p>
          <a:p>
            <a:pPr marL="548640" indent="-457200">
              <a:lnSpc>
                <a:spcPct val="100000"/>
              </a:lnSpc>
              <a:buAutoNum type="arabicPeriod"/>
              <a:tabLst>
                <a:tab pos="548640" algn="l"/>
              </a:tabLst>
            </a:pPr>
            <a:r>
              <a:rPr sz="2000" dirty="0">
                <a:latin typeface="Arial MT"/>
                <a:cs typeface="Arial MT"/>
              </a:rPr>
              <a:t>23BD1A056A</a:t>
            </a:r>
            <a:r>
              <a:rPr sz="2000" spc="470" dirty="0">
                <a:latin typeface="Arial MT"/>
                <a:cs typeface="Arial MT"/>
              </a:rPr>
              <a:t> </a:t>
            </a:r>
            <a:r>
              <a:rPr sz="2000" dirty="0">
                <a:latin typeface="Arial MT"/>
                <a:cs typeface="Arial MT"/>
              </a:rPr>
              <a:t>P.Varun</a:t>
            </a:r>
            <a:r>
              <a:rPr sz="2000" spc="-40" dirty="0">
                <a:latin typeface="Arial MT"/>
                <a:cs typeface="Arial MT"/>
              </a:rPr>
              <a:t> </a:t>
            </a:r>
            <a:r>
              <a:rPr sz="2000" spc="-25" dirty="0">
                <a:latin typeface="Arial MT"/>
                <a:cs typeface="Arial MT"/>
              </a:rPr>
              <a:t>Sai</a:t>
            </a:r>
            <a:endParaRPr sz="2000">
              <a:latin typeface="Arial MT"/>
              <a:cs typeface="Arial MT"/>
            </a:endParaRPr>
          </a:p>
          <a:p>
            <a:pPr marL="548640" indent="-457200">
              <a:lnSpc>
                <a:spcPct val="100000"/>
              </a:lnSpc>
              <a:buAutoNum type="arabicPeriod"/>
              <a:tabLst>
                <a:tab pos="548640" algn="l"/>
              </a:tabLst>
            </a:pPr>
            <a:r>
              <a:rPr sz="2000" dirty="0">
                <a:latin typeface="Arial MT"/>
                <a:cs typeface="Arial MT"/>
              </a:rPr>
              <a:t>23BD1A0572</a:t>
            </a:r>
            <a:r>
              <a:rPr sz="2000" spc="495" dirty="0">
                <a:latin typeface="Arial MT"/>
                <a:cs typeface="Arial MT"/>
              </a:rPr>
              <a:t> </a:t>
            </a:r>
            <a:r>
              <a:rPr sz="2000" spc="-10" dirty="0">
                <a:latin typeface="Arial MT"/>
                <a:cs typeface="Arial MT"/>
              </a:rPr>
              <a:t>S.Srishanth</a:t>
            </a:r>
            <a:endParaRPr sz="2000">
              <a:latin typeface="Arial MT"/>
              <a:cs typeface="Arial MT"/>
            </a:endParaRPr>
          </a:p>
          <a:p>
            <a:pPr marL="548640" indent="-457200">
              <a:lnSpc>
                <a:spcPts val="2370"/>
              </a:lnSpc>
              <a:buAutoNum type="arabicPeriod"/>
              <a:tabLst>
                <a:tab pos="548640" algn="l"/>
              </a:tabLst>
            </a:pPr>
            <a:r>
              <a:rPr sz="2000" dirty="0">
                <a:latin typeface="Arial MT"/>
                <a:cs typeface="Arial MT"/>
              </a:rPr>
              <a:t>23BD1A0573</a:t>
            </a:r>
            <a:r>
              <a:rPr sz="2000" spc="495" dirty="0">
                <a:latin typeface="Arial MT"/>
                <a:cs typeface="Arial MT"/>
              </a:rPr>
              <a:t> </a:t>
            </a:r>
            <a:r>
              <a:rPr sz="2000" spc="-10" dirty="0">
                <a:latin typeface="Arial MT"/>
                <a:cs typeface="Arial MT"/>
              </a:rPr>
              <a:t>S.Aakash</a:t>
            </a:r>
            <a:endParaRPr sz="2000">
              <a:latin typeface="Arial MT"/>
              <a:cs typeface="Arial MT"/>
            </a:endParaRPr>
          </a:p>
          <a:p>
            <a:pPr marL="548640" indent="-457200">
              <a:lnSpc>
                <a:spcPts val="2370"/>
              </a:lnSpc>
              <a:buAutoNum type="arabicPeriod"/>
              <a:tabLst>
                <a:tab pos="548640" algn="l"/>
              </a:tabLst>
            </a:pPr>
            <a:r>
              <a:rPr sz="2000" dirty="0">
                <a:latin typeface="Arial MT"/>
                <a:cs typeface="Arial MT"/>
              </a:rPr>
              <a:t>23BD1A057D</a:t>
            </a:r>
            <a:r>
              <a:rPr sz="2000" spc="-65" dirty="0">
                <a:latin typeface="Arial MT"/>
                <a:cs typeface="Arial MT"/>
              </a:rPr>
              <a:t> </a:t>
            </a:r>
            <a:r>
              <a:rPr sz="2000" spc="-10" dirty="0">
                <a:latin typeface="Arial MT"/>
                <a:cs typeface="Arial MT"/>
              </a:rPr>
              <a:t>V.Maithresh</a:t>
            </a:r>
            <a:endParaRPr sz="2000">
              <a:latin typeface="Arial MT"/>
              <a:cs typeface="Arial MT"/>
            </a:endParaRPr>
          </a:p>
        </p:txBody>
      </p:sp>
      <p:sp>
        <p:nvSpPr>
          <p:cNvPr id="5" name="object 5"/>
          <p:cNvSpPr txBox="1"/>
          <p:nvPr/>
        </p:nvSpPr>
        <p:spPr>
          <a:xfrm>
            <a:off x="7028433" y="4390466"/>
            <a:ext cx="4610100" cy="2273300"/>
          </a:xfrm>
          <a:prstGeom prst="rect">
            <a:avLst/>
          </a:prstGeom>
          <a:ln w="9525">
            <a:solidFill>
              <a:srgbClr val="000000"/>
            </a:solidFill>
          </a:ln>
        </p:spPr>
        <p:txBody>
          <a:bodyPr vert="horz" wrap="square" lIns="0" tIns="37465" rIns="0" bIns="0" rtlCol="0">
            <a:spAutoFit/>
          </a:bodyPr>
          <a:lstStyle/>
          <a:p>
            <a:pPr algn="ctr">
              <a:lnSpc>
                <a:spcPct val="100000"/>
              </a:lnSpc>
              <a:spcBef>
                <a:spcPts val="295"/>
              </a:spcBef>
            </a:pPr>
            <a:r>
              <a:rPr sz="2000" b="1" u="sng" spc="-10" dirty="0">
                <a:uFill>
                  <a:solidFill>
                    <a:srgbClr val="000000"/>
                  </a:solidFill>
                </a:uFill>
                <a:latin typeface="Times New Roman"/>
                <a:cs typeface="Times New Roman"/>
              </a:rPr>
              <a:t>Mentor</a:t>
            </a:r>
            <a:endParaRPr sz="2000">
              <a:latin typeface="Times New Roman"/>
              <a:cs typeface="Times New Roman"/>
            </a:endParaRPr>
          </a:p>
          <a:p>
            <a:pPr marL="92075">
              <a:lnSpc>
                <a:spcPct val="100000"/>
              </a:lnSpc>
              <a:spcBef>
                <a:spcPts val="15"/>
              </a:spcBef>
              <a:tabLst>
                <a:tab pos="549275" algn="l"/>
              </a:tabLst>
            </a:pPr>
            <a:r>
              <a:rPr sz="2000" spc="-25" dirty="0">
                <a:latin typeface="Arial MT"/>
                <a:cs typeface="Arial MT"/>
              </a:rPr>
              <a:t>1.</a:t>
            </a:r>
            <a:r>
              <a:rPr sz="2000" dirty="0">
                <a:latin typeface="Arial MT"/>
                <a:cs typeface="Arial MT"/>
              </a:rPr>
              <a:t>	Mr.Challa</a:t>
            </a:r>
            <a:r>
              <a:rPr sz="2000" spc="-70" dirty="0">
                <a:latin typeface="Arial MT"/>
                <a:cs typeface="Arial MT"/>
              </a:rPr>
              <a:t> </a:t>
            </a:r>
            <a:r>
              <a:rPr sz="2000" dirty="0">
                <a:latin typeface="Arial MT"/>
                <a:cs typeface="Arial MT"/>
              </a:rPr>
              <a:t>Sundeep</a:t>
            </a:r>
            <a:r>
              <a:rPr sz="2000" spc="-60" dirty="0">
                <a:latin typeface="Arial MT"/>
                <a:cs typeface="Arial MT"/>
              </a:rPr>
              <a:t> </a:t>
            </a:r>
            <a:r>
              <a:rPr sz="2000" spc="-20" dirty="0">
                <a:latin typeface="Arial MT"/>
                <a:cs typeface="Arial MT"/>
              </a:rPr>
              <a:t>Babu</a:t>
            </a:r>
            <a:endParaRPr sz="20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99847" rIns="0" bIns="0" rtlCol="0">
            <a:spAutoFit/>
          </a:bodyPr>
          <a:lstStyle/>
          <a:p>
            <a:pPr marL="12700">
              <a:lnSpc>
                <a:spcPct val="100000"/>
              </a:lnSpc>
              <a:spcBef>
                <a:spcPts val="105"/>
              </a:spcBef>
            </a:pPr>
            <a:r>
              <a:rPr spc="-10" dirty="0"/>
              <a:t>CONTENTS</a:t>
            </a:r>
          </a:p>
        </p:txBody>
      </p:sp>
      <p:sp>
        <p:nvSpPr>
          <p:cNvPr id="3" name="object 3"/>
          <p:cNvSpPr txBox="1"/>
          <p:nvPr/>
        </p:nvSpPr>
        <p:spPr>
          <a:xfrm>
            <a:off x="998321" y="815314"/>
            <a:ext cx="3239135" cy="5513705"/>
          </a:xfrm>
          <a:prstGeom prst="rect">
            <a:avLst/>
          </a:prstGeom>
        </p:spPr>
        <p:txBody>
          <a:bodyPr vert="horz" wrap="square" lIns="0" tIns="165100" rIns="0" bIns="0" rtlCol="0">
            <a:spAutoFit/>
          </a:bodyPr>
          <a:lstStyle/>
          <a:p>
            <a:pPr marL="469265" indent="-456565">
              <a:lnSpc>
                <a:spcPct val="100000"/>
              </a:lnSpc>
              <a:spcBef>
                <a:spcPts val="1300"/>
              </a:spcBef>
              <a:buAutoNum type="arabicPeriod"/>
              <a:tabLst>
                <a:tab pos="469265" algn="l"/>
              </a:tabLst>
            </a:pPr>
            <a:r>
              <a:rPr sz="2000" dirty="0">
                <a:latin typeface="Arial MT"/>
                <a:cs typeface="Arial MT"/>
              </a:rPr>
              <a:t>Title</a:t>
            </a:r>
            <a:r>
              <a:rPr sz="2000" spc="-125" dirty="0">
                <a:latin typeface="Arial MT"/>
                <a:cs typeface="Arial MT"/>
              </a:rPr>
              <a:t> </a:t>
            </a:r>
            <a:r>
              <a:rPr sz="2000" spc="-10" dirty="0">
                <a:latin typeface="Arial MT"/>
                <a:cs typeface="Arial MT"/>
              </a:rPr>
              <a:t>Slide</a:t>
            </a:r>
            <a:endParaRPr sz="2000">
              <a:latin typeface="Arial MT"/>
              <a:cs typeface="Arial MT"/>
            </a:endParaRPr>
          </a:p>
          <a:p>
            <a:pPr marL="469265" indent="-456565">
              <a:lnSpc>
                <a:spcPct val="100000"/>
              </a:lnSpc>
              <a:spcBef>
                <a:spcPts val="1205"/>
              </a:spcBef>
              <a:buAutoNum type="arabicPeriod"/>
              <a:tabLst>
                <a:tab pos="469265" algn="l"/>
              </a:tabLst>
            </a:pPr>
            <a:r>
              <a:rPr sz="2000" spc="-10" dirty="0">
                <a:latin typeface="Arial MT"/>
                <a:cs typeface="Arial MT"/>
              </a:rPr>
              <a:t>Abstract</a:t>
            </a:r>
            <a:endParaRPr sz="2000">
              <a:latin typeface="Arial MT"/>
              <a:cs typeface="Arial MT"/>
            </a:endParaRPr>
          </a:p>
          <a:p>
            <a:pPr marL="469265" indent="-456565">
              <a:lnSpc>
                <a:spcPct val="100000"/>
              </a:lnSpc>
              <a:spcBef>
                <a:spcPts val="1200"/>
              </a:spcBef>
              <a:buAutoNum type="arabicPeriod"/>
              <a:tabLst>
                <a:tab pos="469265" algn="l"/>
              </a:tabLst>
            </a:pPr>
            <a:r>
              <a:rPr sz="2000" spc="-10" dirty="0">
                <a:latin typeface="Arial MT"/>
                <a:cs typeface="Arial MT"/>
              </a:rPr>
              <a:t>Introduction</a:t>
            </a:r>
            <a:endParaRPr sz="2000">
              <a:latin typeface="Arial MT"/>
              <a:cs typeface="Arial MT"/>
            </a:endParaRPr>
          </a:p>
          <a:p>
            <a:pPr marL="469265" indent="-456565">
              <a:lnSpc>
                <a:spcPct val="100000"/>
              </a:lnSpc>
              <a:spcBef>
                <a:spcPts val="1200"/>
              </a:spcBef>
              <a:buAutoNum type="arabicPeriod"/>
              <a:tabLst>
                <a:tab pos="469265" algn="l"/>
              </a:tabLst>
            </a:pPr>
            <a:r>
              <a:rPr sz="2000" dirty="0">
                <a:latin typeface="Arial MT"/>
                <a:cs typeface="Arial MT"/>
              </a:rPr>
              <a:t>Base</a:t>
            </a:r>
            <a:r>
              <a:rPr sz="2000" spc="-40" dirty="0">
                <a:latin typeface="Arial MT"/>
                <a:cs typeface="Arial MT"/>
              </a:rPr>
              <a:t> </a:t>
            </a:r>
            <a:r>
              <a:rPr sz="2000" spc="-20" dirty="0">
                <a:latin typeface="Arial MT"/>
                <a:cs typeface="Arial MT"/>
              </a:rPr>
              <a:t>Paper</a:t>
            </a:r>
            <a:endParaRPr sz="2000">
              <a:latin typeface="Arial MT"/>
              <a:cs typeface="Arial MT"/>
            </a:endParaRPr>
          </a:p>
          <a:p>
            <a:pPr marL="469265" indent="-456565">
              <a:lnSpc>
                <a:spcPct val="100000"/>
              </a:lnSpc>
              <a:spcBef>
                <a:spcPts val="1200"/>
              </a:spcBef>
              <a:buAutoNum type="arabicPeriod"/>
              <a:tabLst>
                <a:tab pos="469265" algn="l"/>
              </a:tabLst>
            </a:pPr>
            <a:r>
              <a:rPr sz="2000" dirty="0">
                <a:latin typeface="Arial MT"/>
                <a:cs typeface="Arial MT"/>
              </a:rPr>
              <a:t>Literature</a:t>
            </a:r>
            <a:r>
              <a:rPr sz="2000" spc="-80" dirty="0">
                <a:latin typeface="Arial MT"/>
                <a:cs typeface="Arial MT"/>
              </a:rPr>
              <a:t> </a:t>
            </a:r>
            <a:r>
              <a:rPr sz="2000" spc="-10" dirty="0">
                <a:latin typeface="Arial MT"/>
                <a:cs typeface="Arial MT"/>
              </a:rPr>
              <a:t>review</a:t>
            </a:r>
            <a:endParaRPr sz="2000">
              <a:latin typeface="Arial MT"/>
              <a:cs typeface="Arial MT"/>
            </a:endParaRPr>
          </a:p>
          <a:p>
            <a:pPr marL="469265" indent="-456565">
              <a:lnSpc>
                <a:spcPct val="100000"/>
              </a:lnSpc>
              <a:spcBef>
                <a:spcPts val="1200"/>
              </a:spcBef>
              <a:buAutoNum type="arabicPeriod"/>
              <a:tabLst>
                <a:tab pos="469265" algn="l"/>
              </a:tabLst>
            </a:pPr>
            <a:r>
              <a:rPr sz="2000" dirty="0">
                <a:latin typeface="Arial MT"/>
                <a:cs typeface="Arial MT"/>
              </a:rPr>
              <a:t>Existing</a:t>
            </a:r>
            <a:r>
              <a:rPr sz="2000" spc="-35" dirty="0">
                <a:latin typeface="Arial MT"/>
                <a:cs typeface="Arial MT"/>
              </a:rPr>
              <a:t> </a:t>
            </a:r>
            <a:r>
              <a:rPr sz="2000" spc="-10" dirty="0">
                <a:latin typeface="Arial MT"/>
                <a:cs typeface="Arial MT"/>
              </a:rPr>
              <a:t>Systems</a:t>
            </a:r>
            <a:endParaRPr sz="2000">
              <a:latin typeface="Arial MT"/>
              <a:cs typeface="Arial MT"/>
            </a:endParaRPr>
          </a:p>
          <a:p>
            <a:pPr marL="469265" indent="-456565">
              <a:lnSpc>
                <a:spcPct val="100000"/>
              </a:lnSpc>
              <a:spcBef>
                <a:spcPts val="1200"/>
              </a:spcBef>
              <a:buAutoNum type="arabicPeriod"/>
              <a:tabLst>
                <a:tab pos="469265" algn="l"/>
              </a:tabLst>
            </a:pPr>
            <a:r>
              <a:rPr sz="2000" dirty="0">
                <a:latin typeface="Arial MT"/>
                <a:cs typeface="Arial MT"/>
              </a:rPr>
              <a:t>Proposed</a:t>
            </a:r>
            <a:r>
              <a:rPr sz="2000" spc="-35" dirty="0">
                <a:latin typeface="Arial MT"/>
                <a:cs typeface="Arial MT"/>
              </a:rPr>
              <a:t> </a:t>
            </a:r>
            <a:r>
              <a:rPr sz="2000" spc="-10" dirty="0">
                <a:latin typeface="Arial MT"/>
                <a:cs typeface="Arial MT"/>
              </a:rPr>
              <a:t>System</a:t>
            </a:r>
            <a:endParaRPr sz="2000">
              <a:latin typeface="Arial MT"/>
              <a:cs typeface="Arial MT"/>
            </a:endParaRPr>
          </a:p>
          <a:p>
            <a:pPr marL="469265" indent="-456565">
              <a:lnSpc>
                <a:spcPct val="100000"/>
              </a:lnSpc>
              <a:spcBef>
                <a:spcPts val="1200"/>
              </a:spcBef>
              <a:buAutoNum type="arabicPeriod"/>
              <a:tabLst>
                <a:tab pos="469265" algn="l"/>
              </a:tabLst>
            </a:pPr>
            <a:r>
              <a:rPr sz="2000" dirty="0">
                <a:latin typeface="Arial MT"/>
                <a:cs typeface="Arial MT"/>
              </a:rPr>
              <a:t>Hardware</a:t>
            </a:r>
            <a:r>
              <a:rPr sz="2000" spc="-114" dirty="0">
                <a:latin typeface="Arial MT"/>
                <a:cs typeface="Arial MT"/>
              </a:rPr>
              <a:t> </a:t>
            </a:r>
            <a:r>
              <a:rPr sz="2000" spc="-10" dirty="0">
                <a:latin typeface="Arial MT"/>
                <a:cs typeface="Arial MT"/>
              </a:rPr>
              <a:t>Requirements</a:t>
            </a:r>
            <a:endParaRPr sz="2000">
              <a:latin typeface="Arial MT"/>
              <a:cs typeface="Arial MT"/>
            </a:endParaRPr>
          </a:p>
          <a:p>
            <a:pPr marL="469265" indent="-456565">
              <a:lnSpc>
                <a:spcPct val="100000"/>
              </a:lnSpc>
              <a:spcBef>
                <a:spcPts val="1205"/>
              </a:spcBef>
              <a:buAutoNum type="arabicPeriod"/>
              <a:tabLst>
                <a:tab pos="469265" algn="l"/>
              </a:tabLst>
            </a:pPr>
            <a:r>
              <a:rPr sz="2000" dirty="0">
                <a:latin typeface="Arial MT"/>
                <a:cs typeface="Arial MT"/>
              </a:rPr>
              <a:t>Software</a:t>
            </a:r>
            <a:r>
              <a:rPr sz="2000" spc="-40" dirty="0">
                <a:latin typeface="Arial MT"/>
                <a:cs typeface="Arial MT"/>
              </a:rPr>
              <a:t> </a:t>
            </a:r>
            <a:r>
              <a:rPr sz="2000" spc="-10" dirty="0">
                <a:latin typeface="Arial MT"/>
                <a:cs typeface="Arial MT"/>
              </a:rPr>
              <a:t>Requirements</a:t>
            </a:r>
            <a:endParaRPr sz="2000">
              <a:latin typeface="Arial MT"/>
              <a:cs typeface="Arial MT"/>
            </a:endParaRPr>
          </a:p>
          <a:p>
            <a:pPr marL="467995" indent="-455295">
              <a:lnSpc>
                <a:spcPct val="100000"/>
              </a:lnSpc>
              <a:spcBef>
                <a:spcPts val="1200"/>
              </a:spcBef>
              <a:buAutoNum type="arabicPeriod"/>
              <a:tabLst>
                <a:tab pos="467995" algn="l"/>
              </a:tabLst>
            </a:pPr>
            <a:r>
              <a:rPr sz="2000" dirty="0">
                <a:latin typeface="Arial MT"/>
                <a:cs typeface="Arial MT"/>
              </a:rPr>
              <a:t>Architecture</a:t>
            </a:r>
            <a:r>
              <a:rPr sz="2000" spc="-95" dirty="0">
                <a:latin typeface="Arial MT"/>
                <a:cs typeface="Arial MT"/>
              </a:rPr>
              <a:t> </a:t>
            </a:r>
            <a:r>
              <a:rPr sz="2000" spc="-10" dirty="0">
                <a:latin typeface="Arial MT"/>
                <a:cs typeface="Arial MT"/>
              </a:rPr>
              <a:t>Diagram</a:t>
            </a:r>
            <a:endParaRPr sz="2000">
              <a:latin typeface="Arial MT"/>
              <a:cs typeface="Arial MT"/>
            </a:endParaRPr>
          </a:p>
          <a:p>
            <a:pPr marL="467995" indent="-455295">
              <a:lnSpc>
                <a:spcPct val="100000"/>
              </a:lnSpc>
              <a:spcBef>
                <a:spcPts val="1200"/>
              </a:spcBef>
              <a:buAutoNum type="arabicPeriod"/>
              <a:tabLst>
                <a:tab pos="467995" algn="l"/>
              </a:tabLst>
            </a:pPr>
            <a:r>
              <a:rPr sz="2000" dirty="0">
                <a:latin typeface="Arial MT"/>
                <a:cs typeface="Arial MT"/>
              </a:rPr>
              <a:t>UML</a:t>
            </a:r>
            <a:r>
              <a:rPr sz="2000" spc="-95" dirty="0">
                <a:latin typeface="Arial MT"/>
                <a:cs typeface="Arial MT"/>
              </a:rPr>
              <a:t> </a:t>
            </a:r>
            <a:r>
              <a:rPr sz="2000" spc="-10" dirty="0">
                <a:latin typeface="Arial MT"/>
                <a:cs typeface="Arial MT"/>
              </a:rPr>
              <a:t>Diagrams</a:t>
            </a:r>
            <a:endParaRPr sz="2000">
              <a:latin typeface="Arial MT"/>
              <a:cs typeface="Arial MT"/>
            </a:endParaRPr>
          </a:p>
          <a:p>
            <a:pPr marL="467995" indent="-455295">
              <a:lnSpc>
                <a:spcPct val="100000"/>
              </a:lnSpc>
              <a:spcBef>
                <a:spcPts val="1200"/>
              </a:spcBef>
              <a:buAutoNum type="arabicPeriod"/>
              <a:tabLst>
                <a:tab pos="467995" algn="l"/>
              </a:tabLst>
            </a:pPr>
            <a:r>
              <a:rPr sz="2000" spc="-10" dirty="0">
                <a:latin typeface="Arial MT"/>
                <a:cs typeface="Arial MT"/>
              </a:rPr>
              <a:t>References</a:t>
            </a:r>
            <a:endParaRPr sz="20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5240">
              <a:lnSpc>
                <a:spcPct val="100000"/>
              </a:lnSpc>
              <a:spcBef>
                <a:spcPts val="100"/>
              </a:spcBef>
            </a:pPr>
            <a:r>
              <a:rPr sz="6600" spc="-10" dirty="0">
                <a:solidFill>
                  <a:srgbClr val="000000"/>
                </a:solidFill>
              </a:rPr>
              <a:t>TRUSTRAG</a:t>
            </a:r>
            <a:endParaRPr sz="6600"/>
          </a:p>
        </p:txBody>
      </p:sp>
      <p:sp>
        <p:nvSpPr>
          <p:cNvPr id="3" name="object 3"/>
          <p:cNvSpPr txBox="1"/>
          <p:nvPr/>
        </p:nvSpPr>
        <p:spPr>
          <a:xfrm>
            <a:off x="2738373" y="3703701"/>
            <a:ext cx="7393940" cy="574040"/>
          </a:xfrm>
          <a:prstGeom prst="rect">
            <a:avLst/>
          </a:prstGeom>
        </p:spPr>
        <p:txBody>
          <a:bodyPr vert="horz" wrap="square" lIns="0" tIns="12700" rIns="0" bIns="0" rtlCol="0">
            <a:spAutoFit/>
          </a:bodyPr>
          <a:lstStyle/>
          <a:p>
            <a:pPr marL="12700" marR="5080">
              <a:lnSpc>
                <a:spcPct val="100000"/>
              </a:lnSpc>
              <a:spcBef>
                <a:spcPts val="100"/>
              </a:spcBef>
            </a:pPr>
            <a:r>
              <a:rPr sz="1800" b="1" dirty="0">
                <a:latin typeface="Arial"/>
                <a:cs typeface="Arial"/>
              </a:rPr>
              <a:t>A</a:t>
            </a:r>
            <a:r>
              <a:rPr sz="1800" b="1" spc="-110" dirty="0">
                <a:latin typeface="Arial"/>
                <a:cs typeface="Arial"/>
              </a:rPr>
              <a:t> </a:t>
            </a:r>
            <a:r>
              <a:rPr sz="1800" b="1" dirty="0">
                <a:latin typeface="Arial"/>
                <a:cs typeface="Arial"/>
              </a:rPr>
              <a:t>Modular</a:t>
            </a:r>
            <a:r>
              <a:rPr sz="1800" b="1" spc="-55" dirty="0">
                <a:latin typeface="Arial"/>
                <a:cs typeface="Arial"/>
              </a:rPr>
              <a:t> </a:t>
            </a:r>
            <a:r>
              <a:rPr sz="1800" b="1" dirty="0">
                <a:latin typeface="Arial"/>
                <a:cs typeface="Arial"/>
              </a:rPr>
              <a:t>Framework</a:t>
            </a:r>
            <a:r>
              <a:rPr sz="1800" b="1" spc="-75" dirty="0">
                <a:latin typeface="Arial"/>
                <a:cs typeface="Arial"/>
              </a:rPr>
              <a:t> </a:t>
            </a:r>
            <a:r>
              <a:rPr sz="1800" b="1" dirty="0">
                <a:latin typeface="Arial"/>
                <a:cs typeface="Arial"/>
              </a:rPr>
              <a:t>for</a:t>
            </a:r>
            <a:r>
              <a:rPr sz="1800" b="1" spc="-35" dirty="0">
                <a:latin typeface="Arial"/>
                <a:cs typeface="Arial"/>
              </a:rPr>
              <a:t> </a:t>
            </a:r>
            <a:r>
              <a:rPr sz="1800" b="1" dirty="0">
                <a:latin typeface="Arial"/>
                <a:cs typeface="Arial"/>
              </a:rPr>
              <a:t>Detecting</a:t>
            </a:r>
            <a:r>
              <a:rPr sz="1800" b="1" spc="-35" dirty="0">
                <a:latin typeface="Arial"/>
                <a:cs typeface="Arial"/>
              </a:rPr>
              <a:t> </a:t>
            </a:r>
            <a:r>
              <a:rPr sz="1800" b="1" dirty="0">
                <a:latin typeface="Arial"/>
                <a:cs typeface="Arial"/>
              </a:rPr>
              <a:t>and</a:t>
            </a:r>
            <a:r>
              <a:rPr sz="1800" b="1" spc="-40" dirty="0">
                <a:latin typeface="Arial"/>
                <a:cs typeface="Arial"/>
              </a:rPr>
              <a:t> </a:t>
            </a:r>
            <a:r>
              <a:rPr sz="1800" b="1" dirty="0">
                <a:latin typeface="Arial"/>
                <a:cs typeface="Arial"/>
              </a:rPr>
              <a:t>Mitigating</a:t>
            </a:r>
            <a:r>
              <a:rPr sz="1800" b="1" spc="-55" dirty="0">
                <a:latin typeface="Arial"/>
                <a:cs typeface="Arial"/>
              </a:rPr>
              <a:t> </a:t>
            </a:r>
            <a:r>
              <a:rPr sz="1800" b="1" dirty="0">
                <a:latin typeface="Arial"/>
                <a:cs typeface="Arial"/>
              </a:rPr>
              <a:t>Hallucinations</a:t>
            </a:r>
            <a:r>
              <a:rPr sz="1800" b="1" spc="-50" dirty="0">
                <a:latin typeface="Arial"/>
                <a:cs typeface="Arial"/>
              </a:rPr>
              <a:t> </a:t>
            </a:r>
            <a:r>
              <a:rPr sz="1800" b="1" spc="-25" dirty="0">
                <a:latin typeface="Arial"/>
                <a:cs typeface="Arial"/>
              </a:rPr>
              <a:t>in </a:t>
            </a:r>
            <a:r>
              <a:rPr sz="1800" b="1" spc="-10" dirty="0">
                <a:latin typeface="Arial"/>
                <a:cs typeface="Arial"/>
              </a:rPr>
              <a:t>Retrieval-</a:t>
            </a:r>
            <a:r>
              <a:rPr sz="1800" b="1" dirty="0">
                <a:latin typeface="Arial"/>
                <a:cs typeface="Arial"/>
              </a:rPr>
              <a:t>Augmented</a:t>
            </a:r>
            <a:r>
              <a:rPr sz="1800" b="1" spc="-40" dirty="0">
                <a:latin typeface="Arial"/>
                <a:cs typeface="Arial"/>
              </a:rPr>
              <a:t> </a:t>
            </a:r>
            <a:r>
              <a:rPr sz="1800" b="1" dirty="0">
                <a:latin typeface="Arial"/>
                <a:cs typeface="Arial"/>
              </a:rPr>
              <a:t>Generation</a:t>
            </a:r>
            <a:r>
              <a:rPr sz="1800" b="1" spc="-85" dirty="0">
                <a:latin typeface="Arial"/>
                <a:cs typeface="Arial"/>
              </a:rPr>
              <a:t> </a:t>
            </a:r>
            <a:r>
              <a:rPr sz="1800" b="1" spc="-10" dirty="0">
                <a:latin typeface="Arial"/>
                <a:cs typeface="Arial"/>
              </a:rPr>
              <a:t>Systems</a:t>
            </a:r>
            <a:endParaRPr sz="18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36854">
              <a:lnSpc>
                <a:spcPct val="100000"/>
              </a:lnSpc>
              <a:spcBef>
                <a:spcPts val="100"/>
              </a:spcBef>
            </a:pPr>
            <a:r>
              <a:rPr spc="-10" dirty="0"/>
              <a:t>ABSTRACT</a:t>
            </a:r>
          </a:p>
        </p:txBody>
      </p:sp>
      <p:sp>
        <p:nvSpPr>
          <p:cNvPr id="3" name="object 3"/>
          <p:cNvSpPr txBox="1"/>
          <p:nvPr/>
        </p:nvSpPr>
        <p:spPr>
          <a:xfrm>
            <a:off x="1186078" y="835913"/>
            <a:ext cx="10272395" cy="4133824"/>
          </a:xfrm>
          <a:prstGeom prst="rect">
            <a:avLst/>
          </a:prstGeom>
        </p:spPr>
        <p:txBody>
          <a:bodyPr vert="horz" wrap="square" lIns="0" tIns="12700" rIns="0" bIns="0" rtlCol="0">
            <a:spAutoFit/>
          </a:bodyPr>
          <a:lstStyle/>
          <a:p>
            <a:pPr marL="12700" marR="5080" algn="just">
              <a:lnSpc>
                <a:spcPct val="125000"/>
              </a:lnSpc>
              <a:spcBef>
                <a:spcPts val="100"/>
              </a:spcBef>
            </a:pPr>
            <a:r>
              <a:rPr lang="en-US" sz="1800" dirty="0">
                <a:latin typeface="Arial MT"/>
                <a:cs typeface="Arial MT"/>
              </a:rPr>
              <a:t>Retrieval-Augmented Generation (RAG) improves the factual grounding of Large Language Models (LLMs) by providing external knowledge, but retrieved information alone does not guarantee that the generated response is supported by the evidence. </a:t>
            </a:r>
            <a:r>
              <a:rPr lang="en-US" sz="1800" dirty="0" err="1">
                <a:latin typeface="Arial MT"/>
                <a:cs typeface="Arial MT"/>
              </a:rPr>
              <a:t>TrustRAG</a:t>
            </a:r>
            <a:r>
              <a:rPr lang="en-US" sz="1800" dirty="0">
                <a:latin typeface="Arial MT"/>
                <a:cs typeface="Arial MT"/>
              </a:rPr>
              <a:t> addresses this limitation by introducing claim-level verification, evidence integrity checking, and bounded recovery into the RAG </a:t>
            </a:r>
            <a:r>
              <a:rPr lang="en-US" sz="1800" dirty="0" err="1">
                <a:latin typeface="Arial MT"/>
                <a:cs typeface="Arial MT"/>
              </a:rPr>
              <a:t>pipeline.The</a:t>
            </a:r>
            <a:r>
              <a:rPr lang="en-US" sz="1800" dirty="0">
                <a:latin typeface="Arial MT"/>
                <a:cs typeface="Arial MT"/>
              </a:rPr>
              <a:t> framework retrieves and </a:t>
            </a:r>
            <a:r>
              <a:rPr lang="en-US" sz="1800" dirty="0" err="1">
                <a:latin typeface="Arial MT"/>
                <a:cs typeface="Arial MT"/>
              </a:rPr>
              <a:t>reranks</a:t>
            </a:r>
            <a:r>
              <a:rPr lang="en-US" sz="1800" dirty="0">
                <a:latin typeface="Arial MT"/>
                <a:cs typeface="Arial MT"/>
              </a:rPr>
              <a:t> relevant evidence, generates a grounded response, decomposes the response into individual claims, and verifies each claim against the retrieved evidence using Natural Language Inference (NLI). It also maintains evidence provenance, checks document integrity and temporal validity, and performs bounded recovery when evidence is insufficient or conflicting. When a trustworthy response cannot be established, the system can abstain rather than return unsupported </a:t>
            </a:r>
            <a:r>
              <a:rPr lang="en-US" sz="1800" dirty="0" err="1">
                <a:latin typeface="Arial MT"/>
                <a:cs typeface="Arial MT"/>
              </a:rPr>
              <a:t>information.TrustRAG</a:t>
            </a:r>
            <a:r>
              <a:rPr lang="en-US" sz="1800" dirty="0">
                <a:latin typeface="Arial MT"/>
                <a:cs typeface="Arial MT"/>
              </a:rPr>
              <a:t> follows a local-first architecture using ONNX Runtime, </a:t>
            </a:r>
            <a:r>
              <a:rPr lang="en-US" sz="1800" dirty="0" err="1">
                <a:latin typeface="Arial MT"/>
                <a:cs typeface="Arial MT"/>
              </a:rPr>
              <a:t>Qdrant</a:t>
            </a:r>
            <a:r>
              <a:rPr lang="en-US" sz="1800" dirty="0">
                <a:latin typeface="Arial MT"/>
                <a:cs typeface="Arial MT"/>
              </a:rPr>
              <a:t>, MongoDB, and configurable local or external LLM runtimes. This design aims to improve the reliability, transparency, and auditability of RAG-based question answering.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45745">
              <a:lnSpc>
                <a:spcPct val="100000"/>
              </a:lnSpc>
              <a:spcBef>
                <a:spcPts val="100"/>
              </a:spcBef>
            </a:pPr>
            <a:r>
              <a:rPr spc="-10" dirty="0"/>
              <a:t>INTRODUCTION</a:t>
            </a:r>
          </a:p>
        </p:txBody>
      </p:sp>
      <p:sp>
        <p:nvSpPr>
          <p:cNvPr id="3" name="object 3"/>
          <p:cNvSpPr txBox="1"/>
          <p:nvPr/>
        </p:nvSpPr>
        <p:spPr>
          <a:xfrm>
            <a:off x="1195222" y="798322"/>
            <a:ext cx="10148570" cy="4947508"/>
          </a:xfrm>
          <a:prstGeom prst="rect">
            <a:avLst/>
          </a:prstGeom>
        </p:spPr>
        <p:txBody>
          <a:bodyPr vert="horz" wrap="square" lIns="0" tIns="12700" rIns="0" bIns="0" rtlCol="0">
            <a:spAutoFit/>
          </a:bodyPr>
          <a:lstStyle/>
          <a:p>
            <a:pPr marL="12700" marR="5080" algn="just">
              <a:lnSpc>
                <a:spcPct val="150000"/>
              </a:lnSpc>
              <a:spcBef>
                <a:spcPts val="100"/>
              </a:spcBef>
            </a:pPr>
            <a:r>
              <a:rPr lang="en-US" sz="1800" dirty="0">
                <a:latin typeface="Arial MT"/>
                <a:cs typeface="Arial MT"/>
              </a:rPr>
              <a:t>Large Language Models (LLMs) are widely used for question answering and document analysis, but they can generate incorrect, outdated, or unsupported information. Retrieval-Augmented Generation (RAG) reduces this problem by providing relevant external documents to the model; however, retrieval alone does not guarantee that the generated response is fully supported by the retrieved </a:t>
            </a:r>
            <a:r>
              <a:rPr lang="en-US" sz="1800" dirty="0" err="1">
                <a:latin typeface="Arial MT"/>
                <a:cs typeface="Arial MT"/>
              </a:rPr>
              <a:t>evidence.TrustRAG</a:t>
            </a:r>
            <a:r>
              <a:rPr lang="en-US" sz="1800" dirty="0">
                <a:latin typeface="Arial MT"/>
                <a:cs typeface="Arial MT"/>
              </a:rPr>
              <a:t> addresses this limitation by introducing verification and recovery into the RAG pipeline. The system retrieves relevant evidence, generates a grounded response, decomposes the response into individual claims, and verifies those claims against the retrieved evidence using Natural Language Inference (NLI).In addition, </a:t>
            </a:r>
            <a:r>
              <a:rPr lang="en-US" sz="1800" dirty="0" err="1">
                <a:latin typeface="Arial MT"/>
                <a:cs typeface="Arial MT"/>
              </a:rPr>
              <a:t>TrustRAG</a:t>
            </a:r>
            <a:r>
              <a:rPr lang="en-US" sz="1800" dirty="0">
                <a:latin typeface="Arial MT"/>
                <a:cs typeface="Arial MT"/>
              </a:rPr>
              <a:t> maintains evidence provenance, checks document integrity and temporal validity, and performs bounded recovery when verification fails. If sufficient trustworthy evidence cannot be established, the system can abstain instead of producing an unsupported </a:t>
            </a:r>
            <a:r>
              <a:rPr lang="en-US" sz="1800" dirty="0" err="1">
                <a:latin typeface="Arial MT"/>
                <a:cs typeface="Arial MT"/>
              </a:rPr>
              <a:t>response.Objective</a:t>
            </a:r>
            <a:r>
              <a:rPr lang="en-US" sz="1800" dirty="0">
                <a:latin typeface="Arial MT"/>
                <a:cs typeface="Arial MT"/>
              </a:rPr>
              <a:t>: To develop a modular RAG framework that improves answer reliability by explicitly verifying generated claims and providing evidence-backed responses.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12090">
              <a:lnSpc>
                <a:spcPct val="100000"/>
              </a:lnSpc>
              <a:spcBef>
                <a:spcPts val="100"/>
              </a:spcBef>
            </a:pPr>
            <a:r>
              <a:rPr dirty="0"/>
              <a:t>Base</a:t>
            </a:r>
            <a:r>
              <a:rPr spc="-30" dirty="0"/>
              <a:t> </a:t>
            </a:r>
            <a:r>
              <a:rPr spc="-10" dirty="0"/>
              <a:t>Paper</a:t>
            </a:r>
          </a:p>
        </p:txBody>
      </p:sp>
      <p:sp>
        <p:nvSpPr>
          <p:cNvPr id="5" name="object 5"/>
          <p:cNvSpPr txBox="1"/>
          <p:nvPr/>
        </p:nvSpPr>
        <p:spPr>
          <a:xfrm>
            <a:off x="383235" y="869060"/>
            <a:ext cx="9621520" cy="1164590"/>
          </a:xfrm>
          <a:prstGeom prst="rect">
            <a:avLst/>
          </a:prstGeom>
        </p:spPr>
        <p:txBody>
          <a:bodyPr vert="horz" wrap="square" lIns="0" tIns="88900" rIns="0" bIns="0" rtlCol="0">
            <a:spAutoFit/>
          </a:bodyPr>
          <a:lstStyle/>
          <a:p>
            <a:pPr marL="12700">
              <a:lnSpc>
                <a:spcPct val="100000"/>
              </a:lnSpc>
              <a:spcBef>
                <a:spcPts val="700"/>
              </a:spcBef>
            </a:pPr>
            <a:r>
              <a:rPr sz="1800" b="1" dirty="0">
                <a:latin typeface="Arial"/>
                <a:cs typeface="Arial"/>
              </a:rPr>
              <a:t>Paper</a:t>
            </a:r>
            <a:r>
              <a:rPr sz="1800" b="1" spc="-20" dirty="0">
                <a:latin typeface="Arial"/>
                <a:cs typeface="Arial"/>
              </a:rPr>
              <a:t> </a:t>
            </a:r>
            <a:r>
              <a:rPr sz="1800" b="1" dirty="0">
                <a:latin typeface="Arial"/>
                <a:cs typeface="Arial"/>
              </a:rPr>
              <a:t>:</a:t>
            </a:r>
            <a:r>
              <a:rPr sz="1800" b="1" spc="-10" dirty="0">
                <a:latin typeface="Arial"/>
                <a:cs typeface="Arial"/>
              </a:rPr>
              <a:t> </a:t>
            </a:r>
            <a:r>
              <a:rPr sz="1800" u="sng" dirty="0">
                <a:solidFill>
                  <a:srgbClr val="0000FF"/>
                </a:solidFill>
                <a:uFill>
                  <a:solidFill>
                    <a:srgbClr val="0000FF"/>
                  </a:solidFill>
                </a:uFill>
                <a:latin typeface="Arial MT"/>
                <a:cs typeface="Arial MT"/>
                <a:hlinkClick r:id="rId2"/>
              </a:rPr>
              <a:t>Zhao</a:t>
            </a:r>
            <a:r>
              <a:rPr sz="1800" u="sng" spc="-25" dirty="0">
                <a:solidFill>
                  <a:srgbClr val="0000FF"/>
                </a:solidFill>
                <a:uFill>
                  <a:solidFill>
                    <a:srgbClr val="0000FF"/>
                  </a:solidFill>
                </a:uFill>
                <a:latin typeface="Arial MT"/>
                <a:cs typeface="Arial MT"/>
                <a:hlinkClick r:id="rId2"/>
              </a:rPr>
              <a:t> </a:t>
            </a:r>
            <a:r>
              <a:rPr sz="1800" u="sng" dirty="0">
                <a:solidFill>
                  <a:srgbClr val="0000FF"/>
                </a:solidFill>
                <a:uFill>
                  <a:solidFill>
                    <a:srgbClr val="0000FF"/>
                  </a:solidFill>
                </a:uFill>
                <a:latin typeface="Arial MT"/>
                <a:cs typeface="Arial MT"/>
                <a:hlinkClick r:id="rId2"/>
              </a:rPr>
              <a:t>et</a:t>
            </a:r>
            <a:r>
              <a:rPr sz="1800" u="sng" spc="-5" dirty="0">
                <a:solidFill>
                  <a:srgbClr val="0000FF"/>
                </a:solidFill>
                <a:uFill>
                  <a:solidFill>
                    <a:srgbClr val="0000FF"/>
                  </a:solidFill>
                </a:uFill>
                <a:latin typeface="Arial MT"/>
                <a:cs typeface="Arial MT"/>
                <a:hlinkClick r:id="rId2"/>
              </a:rPr>
              <a:t> </a:t>
            </a:r>
            <a:r>
              <a:rPr sz="1800" u="sng" dirty="0">
                <a:solidFill>
                  <a:srgbClr val="0000FF"/>
                </a:solidFill>
                <a:uFill>
                  <a:solidFill>
                    <a:srgbClr val="0000FF"/>
                  </a:solidFill>
                </a:uFill>
                <a:latin typeface="Arial MT"/>
                <a:cs typeface="Arial MT"/>
                <a:hlinkClick r:id="rId2"/>
              </a:rPr>
              <a:t>al.</a:t>
            </a:r>
            <a:r>
              <a:rPr sz="1800" u="sng" spc="-10" dirty="0">
                <a:solidFill>
                  <a:srgbClr val="0000FF"/>
                </a:solidFill>
                <a:uFill>
                  <a:solidFill>
                    <a:srgbClr val="0000FF"/>
                  </a:solidFill>
                </a:uFill>
                <a:latin typeface="Arial MT"/>
                <a:cs typeface="Arial MT"/>
                <a:hlinkClick r:id="rId2"/>
              </a:rPr>
              <a:t> (2026)</a:t>
            </a:r>
            <a:endParaRPr sz="1800">
              <a:latin typeface="Arial MT"/>
              <a:cs typeface="Arial MT"/>
            </a:endParaRPr>
          </a:p>
          <a:p>
            <a:pPr marL="12700">
              <a:lnSpc>
                <a:spcPct val="100000"/>
              </a:lnSpc>
              <a:spcBef>
                <a:spcPts val="600"/>
              </a:spcBef>
            </a:pPr>
            <a:r>
              <a:rPr sz="1800" b="1" dirty="0">
                <a:latin typeface="Arial"/>
                <a:cs typeface="Arial"/>
              </a:rPr>
              <a:t>Title</a:t>
            </a:r>
            <a:r>
              <a:rPr sz="1800" b="1" spc="-50" dirty="0">
                <a:latin typeface="Arial"/>
                <a:cs typeface="Arial"/>
              </a:rPr>
              <a:t> </a:t>
            </a:r>
            <a:r>
              <a:rPr sz="1800" b="1" dirty="0">
                <a:latin typeface="Arial"/>
                <a:cs typeface="Arial"/>
              </a:rPr>
              <a:t>:</a:t>
            </a:r>
            <a:r>
              <a:rPr sz="1800" b="1" spc="-35" dirty="0">
                <a:latin typeface="Arial"/>
                <a:cs typeface="Arial"/>
              </a:rPr>
              <a:t> </a:t>
            </a:r>
            <a:r>
              <a:rPr sz="1800" i="1" dirty="0">
                <a:latin typeface="Arial"/>
                <a:cs typeface="Arial"/>
              </a:rPr>
              <a:t>Attribution</a:t>
            </a:r>
            <a:r>
              <a:rPr sz="1800" i="1" spc="-30" dirty="0">
                <a:latin typeface="Arial"/>
                <a:cs typeface="Arial"/>
              </a:rPr>
              <a:t> </a:t>
            </a:r>
            <a:r>
              <a:rPr sz="1800" i="1" spc="-10" dirty="0">
                <a:latin typeface="Arial"/>
                <a:cs typeface="Arial"/>
              </a:rPr>
              <a:t>Techniques</a:t>
            </a:r>
            <a:r>
              <a:rPr sz="1800" i="1" spc="-20" dirty="0">
                <a:latin typeface="Arial"/>
                <a:cs typeface="Arial"/>
              </a:rPr>
              <a:t> </a:t>
            </a:r>
            <a:r>
              <a:rPr sz="1800" i="1" dirty="0">
                <a:latin typeface="Arial"/>
                <a:cs typeface="Arial"/>
              </a:rPr>
              <a:t>for</a:t>
            </a:r>
            <a:r>
              <a:rPr sz="1800" i="1" spc="-45" dirty="0">
                <a:latin typeface="Arial"/>
                <a:cs typeface="Arial"/>
              </a:rPr>
              <a:t> </a:t>
            </a:r>
            <a:r>
              <a:rPr sz="1800" i="1" dirty="0">
                <a:latin typeface="Arial"/>
                <a:cs typeface="Arial"/>
              </a:rPr>
              <a:t>Mitigating</a:t>
            </a:r>
            <a:r>
              <a:rPr sz="1800" i="1" spc="-15" dirty="0">
                <a:latin typeface="Arial"/>
                <a:cs typeface="Arial"/>
              </a:rPr>
              <a:t> </a:t>
            </a:r>
            <a:r>
              <a:rPr sz="1800" i="1" dirty="0">
                <a:latin typeface="Arial"/>
                <a:cs typeface="Arial"/>
              </a:rPr>
              <a:t>Hallucinated</a:t>
            </a:r>
            <a:r>
              <a:rPr sz="1800" i="1" spc="-25" dirty="0">
                <a:latin typeface="Arial"/>
                <a:cs typeface="Arial"/>
              </a:rPr>
              <a:t> </a:t>
            </a:r>
            <a:r>
              <a:rPr sz="1800" i="1" dirty="0">
                <a:latin typeface="Arial"/>
                <a:cs typeface="Arial"/>
              </a:rPr>
              <a:t>Information</a:t>
            </a:r>
            <a:r>
              <a:rPr sz="1800" i="1" spc="-15" dirty="0">
                <a:latin typeface="Arial"/>
                <a:cs typeface="Arial"/>
              </a:rPr>
              <a:t> </a:t>
            </a:r>
            <a:r>
              <a:rPr sz="1800" i="1" dirty="0">
                <a:latin typeface="Arial"/>
                <a:cs typeface="Arial"/>
              </a:rPr>
              <a:t>in</a:t>
            </a:r>
            <a:r>
              <a:rPr sz="1800" i="1" spc="-45" dirty="0">
                <a:latin typeface="Arial"/>
                <a:cs typeface="Arial"/>
              </a:rPr>
              <a:t> </a:t>
            </a:r>
            <a:r>
              <a:rPr sz="1800" i="1" dirty="0">
                <a:latin typeface="Arial"/>
                <a:cs typeface="Arial"/>
              </a:rPr>
              <a:t>RAG</a:t>
            </a:r>
            <a:r>
              <a:rPr sz="1800" i="1" spc="-30" dirty="0">
                <a:latin typeface="Arial"/>
                <a:cs typeface="Arial"/>
              </a:rPr>
              <a:t> </a:t>
            </a:r>
            <a:r>
              <a:rPr sz="1800" i="1" dirty="0">
                <a:latin typeface="Arial"/>
                <a:cs typeface="Arial"/>
              </a:rPr>
              <a:t>Systems:</a:t>
            </a:r>
            <a:r>
              <a:rPr sz="1800" i="1" spc="-90" dirty="0">
                <a:latin typeface="Arial"/>
                <a:cs typeface="Arial"/>
              </a:rPr>
              <a:t> </a:t>
            </a:r>
            <a:r>
              <a:rPr sz="1800" i="1" dirty="0">
                <a:latin typeface="Arial"/>
                <a:cs typeface="Arial"/>
              </a:rPr>
              <a:t>A</a:t>
            </a:r>
            <a:r>
              <a:rPr sz="1800" i="1" spc="-105" dirty="0">
                <a:latin typeface="Arial"/>
                <a:cs typeface="Arial"/>
              </a:rPr>
              <a:t> </a:t>
            </a:r>
            <a:r>
              <a:rPr sz="1800" i="1" spc="-10" dirty="0">
                <a:latin typeface="Arial"/>
                <a:cs typeface="Arial"/>
              </a:rPr>
              <a:t>Survey</a:t>
            </a:r>
            <a:endParaRPr sz="1800">
              <a:latin typeface="Arial"/>
              <a:cs typeface="Arial"/>
            </a:endParaRPr>
          </a:p>
          <a:p>
            <a:pPr marL="12700">
              <a:lnSpc>
                <a:spcPct val="100000"/>
              </a:lnSpc>
              <a:spcBef>
                <a:spcPts val="1290"/>
              </a:spcBef>
            </a:pPr>
            <a:r>
              <a:rPr sz="1800" b="1" dirty="0">
                <a:latin typeface="Arial"/>
                <a:cs typeface="Arial"/>
              </a:rPr>
              <a:t>Key</a:t>
            </a:r>
            <a:r>
              <a:rPr sz="1800" b="1" spc="-10" dirty="0">
                <a:latin typeface="Arial"/>
                <a:cs typeface="Arial"/>
              </a:rPr>
              <a:t> Contributions:</a:t>
            </a:r>
            <a:endParaRPr sz="1800">
              <a:latin typeface="Arial"/>
              <a:cs typeface="Arial"/>
            </a:endParaRPr>
          </a:p>
        </p:txBody>
      </p:sp>
      <p:sp>
        <p:nvSpPr>
          <p:cNvPr id="3" name="object 3"/>
          <p:cNvSpPr txBox="1"/>
          <p:nvPr/>
        </p:nvSpPr>
        <p:spPr>
          <a:xfrm>
            <a:off x="4881117" y="4045711"/>
            <a:ext cx="10033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MT"/>
                <a:cs typeface="Arial MT"/>
              </a:rPr>
              <a:t>mitigation</a:t>
            </a:r>
            <a:endParaRPr sz="1800">
              <a:latin typeface="Arial MT"/>
              <a:cs typeface="Arial MT"/>
            </a:endParaRPr>
          </a:p>
        </p:txBody>
      </p:sp>
      <p:sp>
        <p:nvSpPr>
          <p:cNvPr id="4" name="object 4"/>
          <p:cNvSpPr txBox="1"/>
          <p:nvPr/>
        </p:nvSpPr>
        <p:spPr>
          <a:xfrm>
            <a:off x="383235" y="2262378"/>
            <a:ext cx="5502275" cy="3317875"/>
          </a:xfrm>
          <a:prstGeom prst="rect">
            <a:avLst/>
          </a:prstGeom>
        </p:spPr>
        <p:txBody>
          <a:bodyPr vert="horz" wrap="square" lIns="0" tIns="12700" rIns="0" bIns="0" rtlCol="0">
            <a:spAutoFit/>
          </a:bodyPr>
          <a:lstStyle/>
          <a:p>
            <a:pPr marL="299085" marR="5080" indent="-287020">
              <a:lnSpc>
                <a:spcPct val="150000"/>
              </a:lnSpc>
              <a:spcBef>
                <a:spcPts val="100"/>
              </a:spcBef>
              <a:buFont typeface="Microsoft Sans Serif"/>
              <a:buChar char="•"/>
              <a:tabLst>
                <a:tab pos="299085" algn="l"/>
              </a:tabLst>
            </a:pPr>
            <a:r>
              <a:rPr sz="1800" dirty="0">
                <a:latin typeface="Arial MT"/>
                <a:cs typeface="Arial MT"/>
              </a:rPr>
              <a:t>Presents</a:t>
            </a:r>
            <a:r>
              <a:rPr sz="1800" spc="235" dirty="0">
                <a:latin typeface="Arial MT"/>
                <a:cs typeface="Arial MT"/>
              </a:rPr>
              <a:t> </a:t>
            </a:r>
            <a:r>
              <a:rPr sz="1800" dirty="0">
                <a:latin typeface="Arial MT"/>
                <a:cs typeface="Arial MT"/>
              </a:rPr>
              <a:t>a</a:t>
            </a:r>
            <a:r>
              <a:rPr sz="1800" spc="229" dirty="0">
                <a:latin typeface="Arial MT"/>
                <a:cs typeface="Arial MT"/>
              </a:rPr>
              <a:t> </a:t>
            </a:r>
            <a:r>
              <a:rPr sz="1800" dirty="0">
                <a:latin typeface="Arial MT"/>
                <a:cs typeface="Arial MT"/>
              </a:rPr>
              <a:t>comprehensive</a:t>
            </a:r>
            <a:r>
              <a:rPr sz="1800" spc="235" dirty="0">
                <a:latin typeface="Arial MT"/>
                <a:cs typeface="Arial MT"/>
              </a:rPr>
              <a:t> </a:t>
            </a:r>
            <a:r>
              <a:rPr sz="1800" dirty="0">
                <a:latin typeface="Arial MT"/>
                <a:cs typeface="Arial MT"/>
              </a:rPr>
              <a:t>survey</a:t>
            </a:r>
            <a:r>
              <a:rPr sz="1800" spc="215" dirty="0">
                <a:latin typeface="Arial MT"/>
                <a:cs typeface="Arial MT"/>
              </a:rPr>
              <a:t> </a:t>
            </a:r>
            <a:r>
              <a:rPr sz="1800" dirty="0">
                <a:latin typeface="Arial MT"/>
                <a:cs typeface="Arial MT"/>
              </a:rPr>
              <a:t>of</a:t>
            </a:r>
            <a:r>
              <a:rPr sz="1800" spc="240" dirty="0">
                <a:latin typeface="Arial MT"/>
                <a:cs typeface="Arial MT"/>
              </a:rPr>
              <a:t> </a:t>
            </a:r>
            <a:r>
              <a:rPr sz="1800" spc="-10" dirty="0">
                <a:latin typeface="Arial MT"/>
                <a:cs typeface="Arial MT"/>
              </a:rPr>
              <a:t>hallucination </a:t>
            </a:r>
            <a:r>
              <a:rPr sz="1800" dirty="0">
                <a:latin typeface="Arial MT"/>
                <a:cs typeface="Arial MT"/>
              </a:rPr>
              <a:t>mitigation</a:t>
            </a:r>
            <a:r>
              <a:rPr sz="1800" spc="-20" dirty="0">
                <a:latin typeface="Arial MT"/>
                <a:cs typeface="Arial MT"/>
              </a:rPr>
              <a:t> </a:t>
            </a:r>
            <a:r>
              <a:rPr sz="1800" dirty="0">
                <a:latin typeface="Arial MT"/>
                <a:cs typeface="Arial MT"/>
              </a:rPr>
              <a:t>in</a:t>
            </a:r>
            <a:r>
              <a:rPr sz="1800" spc="-20" dirty="0">
                <a:latin typeface="Arial MT"/>
                <a:cs typeface="Arial MT"/>
              </a:rPr>
              <a:t> RAG.</a:t>
            </a:r>
            <a:endParaRPr sz="1800">
              <a:latin typeface="Arial MT"/>
              <a:cs typeface="Arial MT"/>
            </a:endParaRPr>
          </a:p>
          <a:p>
            <a:pPr marL="299085" indent="-286385">
              <a:lnSpc>
                <a:spcPct val="100000"/>
              </a:lnSpc>
              <a:spcBef>
                <a:spcPts val="1080"/>
              </a:spcBef>
              <a:buFont typeface="Microsoft Sans Serif"/>
              <a:buChar char="•"/>
              <a:tabLst>
                <a:tab pos="299085" algn="l"/>
              </a:tabLst>
            </a:pPr>
            <a:r>
              <a:rPr sz="1800" dirty="0">
                <a:latin typeface="Arial MT"/>
                <a:cs typeface="Arial MT"/>
              </a:rPr>
              <a:t>Proposes</a:t>
            </a:r>
            <a:r>
              <a:rPr sz="1800" spc="-35" dirty="0">
                <a:latin typeface="Arial MT"/>
                <a:cs typeface="Arial MT"/>
              </a:rPr>
              <a:t> </a:t>
            </a:r>
            <a:r>
              <a:rPr sz="1800" dirty="0">
                <a:latin typeface="Arial MT"/>
                <a:cs typeface="Arial MT"/>
              </a:rPr>
              <a:t>a</a:t>
            </a:r>
            <a:r>
              <a:rPr sz="1800" spc="-45" dirty="0">
                <a:latin typeface="Arial MT"/>
                <a:cs typeface="Arial MT"/>
              </a:rPr>
              <a:t> </a:t>
            </a:r>
            <a:r>
              <a:rPr sz="1800" dirty="0">
                <a:latin typeface="Arial MT"/>
                <a:cs typeface="Arial MT"/>
              </a:rPr>
              <a:t>unified</a:t>
            </a:r>
            <a:r>
              <a:rPr sz="1800" spc="-35" dirty="0">
                <a:latin typeface="Arial MT"/>
                <a:cs typeface="Arial MT"/>
              </a:rPr>
              <a:t> </a:t>
            </a:r>
            <a:r>
              <a:rPr sz="1800" spc="-10" dirty="0">
                <a:latin typeface="Arial MT"/>
                <a:cs typeface="Arial MT"/>
              </a:rPr>
              <a:t>4-</a:t>
            </a:r>
            <a:r>
              <a:rPr sz="1800" dirty="0">
                <a:latin typeface="Arial MT"/>
                <a:cs typeface="Arial MT"/>
              </a:rPr>
              <a:t>stage</a:t>
            </a:r>
            <a:r>
              <a:rPr sz="1800" spc="-30" dirty="0">
                <a:latin typeface="Arial MT"/>
                <a:cs typeface="Arial MT"/>
              </a:rPr>
              <a:t> </a:t>
            </a:r>
            <a:r>
              <a:rPr sz="1800" dirty="0">
                <a:latin typeface="Arial MT"/>
                <a:cs typeface="Arial MT"/>
              </a:rPr>
              <a:t>attribution</a:t>
            </a:r>
            <a:r>
              <a:rPr sz="1800" spc="-25" dirty="0">
                <a:latin typeface="Arial MT"/>
                <a:cs typeface="Arial MT"/>
              </a:rPr>
              <a:t> </a:t>
            </a:r>
            <a:r>
              <a:rPr sz="1800" spc="-10" dirty="0">
                <a:latin typeface="Arial MT"/>
                <a:cs typeface="Arial MT"/>
              </a:rPr>
              <a:t>pipeline.</a:t>
            </a:r>
            <a:endParaRPr sz="1800">
              <a:latin typeface="Arial MT"/>
              <a:cs typeface="Arial MT"/>
            </a:endParaRPr>
          </a:p>
          <a:p>
            <a:pPr marL="299085" indent="-286385">
              <a:lnSpc>
                <a:spcPct val="100000"/>
              </a:lnSpc>
              <a:spcBef>
                <a:spcPts val="1080"/>
              </a:spcBef>
              <a:buFont typeface="Microsoft Sans Serif"/>
              <a:buChar char="•"/>
              <a:tabLst>
                <a:tab pos="299085" algn="l"/>
              </a:tabLst>
            </a:pPr>
            <a:r>
              <a:rPr sz="1800" dirty="0">
                <a:latin typeface="Arial MT"/>
                <a:cs typeface="Arial MT"/>
              </a:rPr>
              <a:t>Classifies</a:t>
            </a:r>
            <a:r>
              <a:rPr sz="1800" spc="-10" dirty="0">
                <a:latin typeface="Arial MT"/>
                <a:cs typeface="Arial MT"/>
              </a:rPr>
              <a:t> </a:t>
            </a:r>
            <a:r>
              <a:rPr sz="1800" dirty="0">
                <a:latin typeface="Arial MT"/>
                <a:cs typeface="Arial MT"/>
              </a:rPr>
              <a:t>6</a:t>
            </a:r>
            <a:r>
              <a:rPr sz="1800" spc="-25" dirty="0">
                <a:latin typeface="Arial MT"/>
                <a:cs typeface="Arial MT"/>
              </a:rPr>
              <a:t> </a:t>
            </a:r>
            <a:r>
              <a:rPr sz="1800" dirty="0">
                <a:latin typeface="Arial MT"/>
                <a:cs typeface="Arial MT"/>
              </a:rPr>
              <a:t>types</a:t>
            </a:r>
            <a:r>
              <a:rPr sz="1800" spc="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RAG</a:t>
            </a:r>
            <a:r>
              <a:rPr sz="1800" spc="-20" dirty="0">
                <a:latin typeface="Arial MT"/>
                <a:cs typeface="Arial MT"/>
              </a:rPr>
              <a:t> </a:t>
            </a:r>
            <a:r>
              <a:rPr sz="1800" spc="-10" dirty="0">
                <a:latin typeface="Arial MT"/>
                <a:cs typeface="Arial MT"/>
              </a:rPr>
              <a:t>hallucinations.</a:t>
            </a:r>
            <a:endParaRPr sz="1800">
              <a:latin typeface="Arial MT"/>
              <a:cs typeface="Arial MT"/>
            </a:endParaRPr>
          </a:p>
          <a:p>
            <a:pPr marL="299085" marR="1143000" indent="-287020">
              <a:lnSpc>
                <a:spcPct val="150000"/>
              </a:lnSpc>
              <a:buFont typeface="Microsoft Sans Serif"/>
              <a:buChar char="•"/>
              <a:tabLst>
                <a:tab pos="299085" algn="l"/>
                <a:tab pos="1016635" algn="l"/>
                <a:tab pos="2446655" algn="l"/>
                <a:tab pos="3152140" algn="l"/>
                <a:tab pos="3504565" algn="l"/>
              </a:tabLst>
            </a:pPr>
            <a:r>
              <a:rPr sz="1800" spc="-20" dirty="0">
                <a:latin typeface="Arial MT"/>
                <a:cs typeface="Arial MT"/>
              </a:rPr>
              <a:t>Maps</a:t>
            </a:r>
            <a:r>
              <a:rPr sz="1800" dirty="0">
                <a:latin typeface="Arial MT"/>
                <a:cs typeface="Arial MT"/>
              </a:rPr>
              <a:t>	</a:t>
            </a:r>
            <a:r>
              <a:rPr sz="1800" spc="-10" dirty="0">
                <a:latin typeface="Arial MT"/>
                <a:cs typeface="Arial MT"/>
              </a:rPr>
              <a:t>hallucination</a:t>
            </a:r>
            <a:r>
              <a:rPr sz="1800" dirty="0">
                <a:latin typeface="Arial MT"/>
                <a:cs typeface="Arial MT"/>
              </a:rPr>
              <a:t>	</a:t>
            </a:r>
            <a:r>
              <a:rPr sz="1800" spc="-20" dirty="0">
                <a:latin typeface="Arial MT"/>
                <a:cs typeface="Arial MT"/>
              </a:rPr>
              <a:t>types</a:t>
            </a:r>
            <a:r>
              <a:rPr sz="1800" dirty="0">
                <a:latin typeface="Arial MT"/>
                <a:cs typeface="Arial MT"/>
              </a:rPr>
              <a:t>	</a:t>
            </a:r>
            <a:r>
              <a:rPr sz="1800" spc="-25" dirty="0">
                <a:latin typeface="Arial MT"/>
                <a:cs typeface="Arial MT"/>
              </a:rPr>
              <a:t>to</a:t>
            </a:r>
            <a:r>
              <a:rPr sz="1800" dirty="0">
                <a:latin typeface="Arial MT"/>
                <a:cs typeface="Arial MT"/>
              </a:rPr>
              <a:t>	</a:t>
            </a:r>
            <a:r>
              <a:rPr sz="1800" spc="-10" dirty="0">
                <a:latin typeface="Arial MT"/>
                <a:cs typeface="Arial MT"/>
              </a:rPr>
              <a:t>effective techniques.</a:t>
            </a:r>
            <a:endParaRPr sz="1800">
              <a:latin typeface="Arial MT"/>
              <a:cs typeface="Arial MT"/>
            </a:endParaRPr>
          </a:p>
          <a:p>
            <a:pPr marL="299085" indent="-286385">
              <a:lnSpc>
                <a:spcPct val="100000"/>
              </a:lnSpc>
              <a:spcBef>
                <a:spcPts val="1080"/>
              </a:spcBef>
              <a:buFont typeface="Microsoft Sans Serif"/>
              <a:buChar char="•"/>
              <a:tabLst>
                <a:tab pos="299085" algn="l"/>
              </a:tabLst>
            </a:pPr>
            <a:r>
              <a:rPr sz="1800" dirty="0">
                <a:latin typeface="Arial MT"/>
                <a:cs typeface="Arial MT"/>
              </a:rPr>
              <a:t>Primary</a:t>
            </a:r>
            <a:r>
              <a:rPr sz="1800" spc="-40" dirty="0">
                <a:latin typeface="Arial MT"/>
                <a:cs typeface="Arial MT"/>
              </a:rPr>
              <a:t> </a:t>
            </a:r>
            <a:r>
              <a:rPr sz="1800" dirty="0">
                <a:latin typeface="Arial MT"/>
                <a:cs typeface="Arial MT"/>
              </a:rPr>
              <a:t>Dataset</a:t>
            </a:r>
            <a:r>
              <a:rPr sz="1800" spc="-20" dirty="0">
                <a:latin typeface="Arial MT"/>
                <a:cs typeface="Arial MT"/>
              </a:rPr>
              <a:t> </a:t>
            </a:r>
            <a:r>
              <a:rPr sz="1800" dirty="0">
                <a:latin typeface="Arial MT"/>
                <a:cs typeface="Arial MT"/>
              </a:rPr>
              <a:t>:</a:t>
            </a:r>
            <a:r>
              <a:rPr sz="1800" spc="-45" dirty="0">
                <a:latin typeface="Arial MT"/>
                <a:cs typeface="Arial MT"/>
              </a:rPr>
              <a:t> </a:t>
            </a:r>
            <a:r>
              <a:rPr sz="1800" dirty="0">
                <a:latin typeface="Arial MT"/>
                <a:cs typeface="Arial MT"/>
              </a:rPr>
              <a:t>RAGTruth</a:t>
            </a:r>
            <a:r>
              <a:rPr sz="1800" spc="-50" dirty="0">
                <a:latin typeface="Arial MT"/>
                <a:cs typeface="Arial MT"/>
              </a:rPr>
              <a:t> </a:t>
            </a:r>
            <a:r>
              <a:rPr sz="1800" spc="-10" dirty="0">
                <a:latin typeface="Arial MT"/>
                <a:cs typeface="Arial MT"/>
              </a:rPr>
              <a:t>Dataset</a:t>
            </a:r>
            <a:endParaRPr sz="1800">
              <a:latin typeface="Arial MT"/>
              <a:cs typeface="Arial MT"/>
            </a:endParaRPr>
          </a:p>
          <a:p>
            <a:pPr marL="299085" indent="-286385">
              <a:lnSpc>
                <a:spcPct val="100000"/>
              </a:lnSpc>
              <a:spcBef>
                <a:spcPts val="1080"/>
              </a:spcBef>
              <a:buFont typeface="Microsoft Sans Serif"/>
              <a:buChar char="•"/>
              <a:tabLst>
                <a:tab pos="299085" algn="l"/>
              </a:tabLst>
            </a:pPr>
            <a:r>
              <a:rPr sz="1800" dirty="0">
                <a:latin typeface="Arial MT"/>
                <a:cs typeface="Arial MT"/>
              </a:rPr>
              <a:t>Secondary</a:t>
            </a:r>
            <a:r>
              <a:rPr sz="1800" spc="-25" dirty="0">
                <a:latin typeface="Arial MT"/>
                <a:cs typeface="Arial MT"/>
              </a:rPr>
              <a:t> </a:t>
            </a:r>
            <a:r>
              <a:rPr sz="1800" dirty="0">
                <a:latin typeface="Arial MT"/>
                <a:cs typeface="Arial MT"/>
              </a:rPr>
              <a:t>Dataset</a:t>
            </a:r>
            <a:r>
              <a:rPr sz="1800" spc="-15" dirty="0">
                <a:latin typeface="Arial MT"/>
                <a:cs typeface="Arial MT"/>
              </a:rPr>
              <a:t> </a:t>
            </a:r>
            <a:r>
              <a:rPr sz="1800" dirty="0">
                <a:latin typeface="Arial MT"/>
                <a:cs typeface="Arial MT"/>
              </a:rPr>
              <a:t>:</a:t>
            </a:r>
            <a:r>
              <a:rPr sz="1800" spc="-35" dirty="0">
                <a:latin typeface="Arial MT"/>
                <a:cs typeface="Arial MT"/>
              </a:rPr>
              <a:t> </a:t>
            </a:r>
            <a:r>
              <a:rPr sz="1800" spc="-10" dirty="0">
                <a:latin typeface="Arial MT"/>
                <a:cs typeface="Arial MT"/>
              </a:rPr>
              <a:t>HaluEval</a:t>
            </a:r>
            <a:endParaRPr sz="1800">
              <a:latin typeface="Arial MT"/>
              <a:cs typeface="Arial MT"/>
            </a:endParaRPr>
          </a:p>
        </p:txBody>
      </p:sp>
      <p:pic>
        <p:nvPicPr>
          <p:cNvPr id="6" name="object 6"/>
          <p:cNvPicPr/>
          <p:nvPr/>
        </p:nvPicPr>
        <p:blipFill>
          <a:blip r:embed="rId3" cstate="print"/>
          <a:stretch>
            <a:fillRect/>
          </a:stretch>
        </p:blipFill>
        <p:spPr>
          <a:xfrm>
            <a:off x="6096000" y="2778505"/>
            <a:ext cx="5488305" cy="27442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12090">
              <a:lnSpc>
                <a:spcPct val="100000"/>
              </a:lnSpc>
              <a:spcBef>
                <a:spcPts val="100"/>
              </a:spcBef>
            </a:pPr>
            <a:r>
              <a:rPr dirty="0"/>
              <a:t>Literature</a:t>
            </a:r>
            <a:r>
              <a:rPr spc="-65" dirty="0"/>
              <a:t> </a:t>
            </a:r>
            <a:r>
              <a:rPr spc="-10" dirty="0"/>
              <a:t>Review</a:t>
            </a:r>
          </a:p>
        </p:txBody>
      </p:sp>
      <p:pic>
        <p:nvPicPr>
          <p:cNvPr id="6" name="Picture 5">
            <a:extLst>
              <a:ext uri="{FF2B5EF4-FFF2-40B4-BE49-F238E27FC236}">
                <a16:creationId xmlns:a16="http://schemas.microsoft.com/office/drawing/2014/main" id="{6789CF96-3837-B038-1E31-66C2922094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143000"/>
            <a:ext cx="11582400" cy="43476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259715">
              <a:lnSpc>
                <a:spcPct val="100000"/>
              </a:lnSpc>
              <a:spcBef>
                <a:spcPts val="105"/>
              </a:spcBef>
            </a:pPr>
            <a:r>
              <a:rPr dirty="0"/>
              <a:t>Existing</a:t>
            </a:r>
            <a:r>
              <a:rPr spc="-55" dirty="0"/>
              <a:t> </a:t>
            </a:r>
            <a:r>
              <a:rPr spc="-10" dirty="0"/>
              <a:t>Systems</a:t>
            </a:r>
          </a:p>
        </p:txBody>
      </p:sp>
      <p:sp>
        <p:nvSpPr>
          <p:cNvPr id="4" name="object 4"/>
          <p:cNvSpPr txBox="1"/>
          <p:nvPr/>
        </p:nvSpPr>
        <p:spPr>
          <a:xfrm>
            <a:off x="1219200" y="914400"/>
            <a:ext cx="10572115" cy="5121915"/>
          </a:xfrm>
          <a:prstGeom prst="rect">
            <a:avLst/>
          </a:prstGeom>
        </p:spPr>
        <p:txBody>
          <a:bodyPr vert="horz" wrap="square" lIns="0" tIns="165100" rIns="0" bIns="0" rtlCol="0">
            <a:spAutoFit/>
          </a:bodyPr>
          <a:lstStyle/>
          <a:p>
            <a:pPr marL="285750" lvl="0" indent="-285750">
              <a:spcBef>
                <a:spcPts val="1200"/>
              </a:spcBef>
              <a:buFont typeface="Arial" panose="020B0604020202020204" pitchFamily="34" charset="0"/>
              <a:buChar char="•"/>
            </a:pPr>
            <a:r>
              <a:rPr lang="en-IN" b="1" dirty="0"/>
              <a:t>Standard RAG Pipeline:</a:t>
            </a:r>
            <a:r>
              <a:rPr lang="en-IN" dirty="0"/>
              <a:t> User Query → Document Retrieval → LLM Generation </a:t>
            </a:r>
          </a:p>
          <a:p>
            <a:pPr marL="285750" lvl="0" indent="-285750">
              <a:spcBef>
                <a:spcPts val="1200"/>
              </a:spcBef>
              <a:buFont typeface="Arial" panose="020B0604020202020204" pitchFamily="34" charset="0"/>
              <a:buChar char="•"/>
            </a:pPr>
            <a:r>
              <a:rPr lang="en-IN" b="1" dirty="0"/>
              <a:t>Retrieval Dependence:</a:t>
            </a:r>
            <a:r>
              <a:rPr lang="en-IN" dirty="0"/>
              <a:t> Final response quality depends heavily on the relevance and quality of retrieved documents. </a:t>
            </a:r>
          </a:p>
          <a:p>
            <a:pPr marL="285750" lvl="0" indent="-285750">
              <a:spcBef>
                <a:spcPts val="1200"/>
              </a:spcBef>
              <a:buFont typeface="Arial" panose="020B0604020202020204" pitchFamily="34" charset="0"/>
              <a:buChar char="•"/>
            </a:pPr>
            <a:r>
              <a:rPr lang="en-IN" b="1" dirty="0"/>
              <a:t>Irrelevant or Conflicting Context:</a:t>
            </a:r>
            <a:r>
              <a:rPr lang="en-IN" dirty="0"/>
              <a:t> Retrieved documents may contain irrelevant, redundant, outdated, or conflicting information. </a:t>
            </a:r>
          </a:p>
          <a:p>
            <a:pPr marL="285750" lvl="0" indent="-285750">
              <a:spcBef>
                <a:spcPts val="1200"/>
              </a:spcBef>
              <a:buFont typeface="Arial" panose="020B0604020202020204" pitchFamily="34" charset="0"/>
              <a:buChar char="•"/>
            </a:pPr>
            <a:r>
              <a:rPr lang="en-IN" b="1" dirty="0"/>
              <a:t>Limited Verification:</a:t>
            </a:r>
            <a:r>
              <a:rPr lang="en-IN" dirty="0"/>
              <a:t> Generated responses are not necessarily validated against source documents claim by claim. </a:t>
            </a:r>
          </a:p>
          <a:p>
            <a:pPr marL="285750" lvl="0" indent="-285750">
              <a:spcBef>
                <a:spcPts val="1200"/>
              </a:spcBef>
              <a:buFont typeface="Arial" panose="020B0604020202020204" pitchFamily="34" charset="0"/>
              <a:buChar char="•"/>
            </a:pPr>
            <a:r>
              <a:rPr lang="en-IN" b="1" dirty="0"/>
              <a:t>Limited Source Validation:</a:t>
            </a:r>
            <a:r>
              <a:rPr lang="en-IN" dirty="0"/>
              <a:t> Source integrity and temporal validity may not be explicitly checked. </a:t>
            </a:r>
          </a:p>
          <a:p>
            <a:pPr marL="285750" lvl="0" indent="-285750">
              <a:spcBef>
                <a:spcPts val="1200"/>
              </a:spcBef>
              <a:buFont typeface="Arial" panose="020B0604020202020204" pitchFamily="34" charset="0"/>
              <a:buChar char="•"/>
            </a:pPr>
            <a:r>
              <a:rPr lang="en-IN" b="1" dirty="0"/>
              <a:t>Unsupported Claims:</a:t>
            </a:r>
            <a:r>
              <a:rPr lang="en-IN" dirty="0"/>
              <a:t> The system may generate an answer even when sufficient supporting evidence is unavailable. </a:t>
            </a:r>
          </a:p>
          <a:p>
            <a:pPr marL="285750" lvl="0" indent="-285750">
              <a:spcBef>
                <a:spcPts val="1200"/>
              </a:spcBef>
              <a:buFont typeface="Arial" panose="020B0604020202020204" pitchFamily="34" charset="0"/>
              <a:buChar char="•"/>
            </a:pPr>
            <a:r>
              <a:rPr lang="en-IN" b="1" dirty="0"/>
              <a:t>Limited Recovery:</a:t>
            </a:r>
            <a:r>
              <a:rPr lang="en-IN" dirty="0"/>
              <a:t> Conventional RAG may not provide a mechanism to recover from failed retrieval or verification. </a:t>
            </a:r>
          </a:p>
          <a:p>
            <a:pPr marL="285750" indent="-285750">
              <a:spcBef>
                <a:spcPts val="1200"/>
              </a:spcBef>
              <a:buFont typeface="Arial" panose="020B0604020202020204" pitchFamily="34" charset="0"/>
              <a:buChar char="•"/>
            </a:pPr>
            <a:r>
              <a:rPr lang="en-IN" b="1" dirty="0"/>
              <a:t>Result:</a:t>
            </a:r>
            <a:r>
              <a:rPr lang="en-IN" dirty="0"/>
              <a:t> Retrieval noise and unverified generation can allow unsupported information to reach the final response</a:t>
            </a:r>
          </a:p>
        </p:txBody>
      </p:sp>
      <p:pic>
        <p:nvPicPr>
          <p:cNvPr id="3" name="object 3"/>
          <p:cNvPicPr/>
          <p:nvPr/>
        </p:nvPicPr>
        <p:blipFill>
          <a:blip r:embed="rId2" cstate="print"/>
          <a:stretch>
            <a:fillRect/>
          </a:stretch>
        </p:blipFill>
        <p:spPr>
          <a:xfrm>
            <a:off x="9512104" y="6199797"/>
            <a:ext cx="1681005" cy="45944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6990">
              <a:lnSpc>
                <a:spcPct val="100000"/>
              </a:lnSpc>
              <a:spcBef>
                <a:spcPts val="105"/>
              </a:spcBef>
            </a:pPr>
            <a:r>
              <a:rPr dirty="0"/>
              <a:t>Proposed</a:t>
            </a:r>
            <a:r>
              <a:rPr spc="-45" dirty="0"/>
              <a:t> </a:t>
            </a:r>
            <a:r>
              <a:rPr spc="-10" dirty="0"/>
              <a:t>System</a:t>
            </a:r>
          </a:p>
        </p:txBody>
      </p:sp>
      <p:sp>
        <p:nvSpPr>
          <p:cNvPr id="3" name="object 3"/>
          <p:cNvSpPr txBox="1"/>
          <p:nvPr/>
        </p:nvSpPr>
        <p:spPr>
          <a:xfrm>
            <a:off x="1028980" y="796112"/>
            <a:ext cx="10201275" cy="5114221"/>
          </a:xfrm>
          <a:prstGeom prst="rect">
            <a:avLst/>
          </a:prstGeom>
        </p:spPr>
        <p:txBody>
          <a:bodyPr vert="horz" wrap="square" lIns="0" tIns="12700" rIns="0" bIns="0" rtlCol="0">
            <a:spAutoFit/>
          </a:bodyPr>
          <a:lstStyle/>
          <a:p>
            <a:pPr marL="12700">
              <a:lnSpc>
                <a:spcPct val="100000"/>
              </a:lnSpc>
              <a:spcBef>
                <a:spcPts val="100"/>
              </a:spcBef>
            </a:pPr>
            <a:r>
              <a:rPr lang="en-US" sz="1800" b="1" dirty="0" err="1">
                <a:latin typeface="Arial"/>
                <a:cs typeface="Arial"/>
              </a:rPr>
              <a:t>TrustRAG</a:t>
            </a:r>
            <a:r>
              <a:rPr lang="en-US" sz="1800" b="1" dirty="0">
                <a:latin typeface="Arial"/>
                <a:cs typeface="Arial"/>
              </a:rPr>
              <a:t> Framework:</a:t>
            </a:r>
            <a:r>
              <a:rPr lang="en-US" sz="1800" dirty="0">
                <a:latin typeface="Arial"/>
                <a:cs typeface="Arial"/>
              </a:rPr>
              <a:t> A modular pipeline designed to improve the reliability of Retrieval-			           Augmented Generation. </a:t>
            </a:r>
            <a:endParaRPr lang="en-US" sz="1800" b="1" dirty="0">
              <a:latin typeface="Arial"/>
              <a:cs typeface="Arial"/>
            </a:endParaRPr>
          </a:p>
          <a:p>
            <a:pPr marL="12700">
              <a:lnSpc>
                <a:spcPct val="100000"/>
              </a:lnSpc>
              <a:spcBef>
                <a:spcPts val="100"/>
              </a:spcBef>
            </a:pPr>
            <a:r>
              <a:rPr lang="en-US" sz="1800" b="1" dirty="0">
                <a:latin typeface="Arial"/>
                <a:cs typeface="Arial"/>
              </a:rPr>
              <a:t>Stage 1 — Query Routing</a:t>
            </a:r>
            <a:r>
              <a:rPr lang="en-US" sz="1800" dirty="0">
                <a:latin typeface="Arial"/>
                <a:cs typeface="Arial"/>
              </a:rPr>
              <a:t>: Classifies the user query and selects the appropriate retrieval path. </a:t>
            </a:r>
          </a:p>
          <a:p>
            <a:pPr marL="12700">
              <a:lnSpc>
                <a:spcPct val="100000"/>
              </a:lnSpc>
              <a:spcBef>
                <a:spcPts val="100"/>
              </a:spcBef>
            </a:pPr>
            <a:r>
              <a:rPr lang="en-US" sz="1800" b="1" dirty="0">
                <a:latin typeface="Arial"/>
                <a:cs typeface="Arial"/>
              </a:rPr>
              <a:t>Stage 2 — Hybrid Retrieval</a:t>
            </a:r>
            <a:r>
              <a:rPr lang="en-US" sz="1800" dirty="0">
                <a:latin typeface="Arial"/>
                <a:cs typeface="Arial"/>
              </a:rPr>
              <a:t>: Retrieves relevant evidence using dense embeddings and supports 				     sparse BM25 retrieval with RRF-based fusion. </a:t>
            </a:r>
          </a:p>
          <a:p>
            <a:pPr marL="12700">
              <a:lnSpc>
                <a:spcPct val="100000"/>
              </a:lnSpc>
              <a:spcBef>
                <a:spcPts val="100"/>
              </a:spcBef>
            </a:pPr>
            <a:r>
              <a:rPr lang="en-US" sz="1800" b="1" dirty="0">
                <a:latin typeface="Arial"/>
                <a:cs typeface="Arial"/>
              </a:rPr>
              <a:t>Stage 3 — Reranking</a:t>
            </a:r>
            <a:r>
              <a:rPr lang="en-US" sz="1800" dirty="0">
                <a:latin typeface="Arial"/>
                <a:cs typeface="Arial"/>
              </a:rPr>
              <a:t>: Uses a cross-encoder to rank retrieved candidates and select the most 			         relevant evidence. </a:t>
            </a:r>
          </a:p>
          <a:p>
            <a:pPr marL="12700">
              <a:lnSpc>
                <a:spcPct val="100000"/>
              </a:lnSpc>
              <a:spcBef>
                <a:spcPts val="100"/>
              </a:spcBef>
            </a:pPr>
            <a:r>
              <a:rPr lang="en-US" sz="1800" b="1" dirty="0">
                <a:latin typeface="Arial"/>
                <a:cs typeface="Arial"/>
              </a:rPr>
              <a:t>Stage 4 — Grounded Generation</a:t>
            </a:r>
            <a:r>
              <a:rPr lang="en-US" sz="1800" dirty="0">
                <a:latin typeface="Arial"/>
                <a:cs typeface="Arial"/>
              </a:rPr>
              <a:t>: Generates a response using the retrieved evidence as the 				             grounding context. </a:t>
            </a:r>
          </a:p>
          <a:p>
            <a:pPr marL="12700">
              <a:lnSpc>
                <a:spcPct val="100000"/>
              </a:lnSpc>
              <a:spcBef>
                <a:spcPts val="100"/>
              </a:spcBef>
            </a:pPr>
            <a:r>
              <a:rPr lang="en-US" sz="1800" b="1" dirty="0">
                <a:latin typeface="Arial"/>
                <a:cs typeface="Arial"/>
              </a:rPr>
              <a:t>Stage 5 — Claim Decomposition</a:t>
            </a:r>
            <a:r>
              <a:rPr lang="en-US" sz="1800" dirty="0">
                <a:latin typeface="Arial"/>
                <a:cs typeface="Arial"/>
              </a:rPr>
              <a:t>: Breaks the generated response into individual, verifiable claims. </a:t>
            </a:r>
          </a:p>
          <a:p>
            <a:pPr marL="12700">
              <a:lnSpc>
                <a:spcPct val="100000"/>
              </a:lnSpc>
              <a:spcBef>
                <a:spcPts val="100"/>
              </a:spcBef>
            </a:pPr>
            <a:r>
              <a:rPr lang="en-US" sz="1800" b="1" dirty="0">
                <a:latin typeface="Arial"/>
                <a:cs typeface="Arial"/>
              </a:rPr>
              <a:t>Stage 6 — Claim Verification</a:t>
            </a:r>
            <a:r>
              <a:rPr lang="en-US" sz="1800" dirty="0">
                <a:latin typeface="Arial"/>
                <a:cs typeface="Arial"/>
              </a:rPr>
              <a:t>: Uses NLI to classify claims as SUPPORTED, CONTRADICTED, or 			       NEUTRAL. </a:t>
            </a:r>
          </a:p>
          <a:p>
            <a:pPr marL="12700">
              <a:lnSpc>
                <a:spcPct val="100000"/>
              </a:lnSpc>
              <a:spcBef>
                <a:spcPts val="100"/>
              </a:spcBef>
            </a:pPr>
            <a:r>
              <a:rPr lang="en-US" sz="1800" b="1" dirty="0">
                <a:latin typeface="Arial"/>
                <a:cs typeface="Arial"/>
              </a:rPr>
              <a:t>Stage 7 — Evidence Integrity Audit</a:t>
            </a:r>
            <a:r>
              <a:rPr lang="en-US" sz="1800" dirty="0">
                <a:latin typeface="Arial"/>
                <a:cs typeface="Arial"/>
              </a:rPr>
              <a:t>: Uses SHA-256 hashing to check whether retrieved evidence 				    has been modified or corrupted. </a:t>
            </a:r>
          </a:p>
          <a:p>
            <a:pPr marL="12700">
              <a:lnSpc>
                <a:spcPct val="100000"/>
              </a:lnSpc>
              <a:spcBef>
                <a:spcPts val="100"/>
              </a:spcBef>
            </a:pPr>
            <a:r>
              <a:rPr lang="en-US" sz="1800" b="1" dirty="0">
                <a:latin typeface="Arial"/>
                <a:cs typeface="Arial"/>
              </a:rPr>
              <a:t>Stage 8 — Recovery / Abstention</a:t>
            </a:r>
            <a:r>
              <a:rPr lang="en-US" sz="1800" dirty="0">
                <a:latin typeface="Arial"/>
                <a:cs typeface="Arial"/>
              </a:rPr>
              <a:t>: Performs bounded recovery when verification fails; if sufficient 					evidence cannot be established, the system abstains. </a:t>
            </a:r>
          </a:p>
          <a:p>
            <a:pPr marL="12700">
              <a:lnSpc>
                <a:spcPct val="100000"/>
              </a:lnSpc>
              <a:spcBef>
                <a:spcPts val="100"/>
              </a:spcBef>
            </a:pPr>
            <a:r>
              <a:rPr lang="en-US" sz="1800" b="1" dirty="0">
                <a:latin typeface="Arial"/>
                <a:cs typeface="Arial"/>
              </a:rPr>
              <a:t>Key Outcome</a:t>
            </a:r>
            <a:r>
              <a:rPr lang="en-US" sz="1800" dirty="0">
                <a:latin typeface="Arial"/>
                <a:cs typeface="Arial"/>
              </a:rPr>
              <a:t>: Only sufficiently supported responses are presented as trustworthy; unsupported 		          responses are withheld.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08406" rIns="0" bIns="0" rtlCol="0">
            <a:spAutoFit/>
          </a:bodyPr>
          <a:lstStyle/>
          <a:p>
            <a:pPr marL="479425">
              <a:lnSpc>
                <a:spcPct val="100000"/>
              </a:lnSpc>
              <a:spcBef>
                <a:spcPts val="105"/>
              </a:spcBef>
            </a:pPr>
            <a:r>
              <a:rPr dirty="0"/>
              <a:t>Hardware</a:t>
            </a:r>
            <a:r>
              <a:rPr spc="-80" dirty="0"/>
              <a:t> </a:t>
            </a:r>
            <a:r>
              <a:rPr spc="-10" dirty="0"/>
              <a:t>Requirements</a:t>
            </a:r>
          </a:p>
        </p:txBody>
      </p:sp>
      <p:graphicFrame>
        <p:nvGraphicFramePr>
          <p:cNvPr id="3" name="object 3"/>
          <p:cNvGraphicFramePr>
            <a:graphicFrameLocks noGrp="1"/>
          </p:cNvGraphicFramePr>
          <p:nvPr>
            <p:extLst>
              <p:ext uri="{D42A27DB-BD31-4B8C-83A1-F6EECF244321}">
                <p14:modId xmlns:p14="http://schemas.microsoft.com/office/powerpoint/2010/main" val="197042843"/>
              </p:ext>
            </p:extLst>
          </p:nvPr>
        </p:nvGraphicFramePr>
        <p:xfrm>
          <a:off x="1343405" y="1210691"/>
          <a:ext cx="9824720" cy="4422775"/>
        </p:xfrm>
        <a:graphic>
          <a:graphicData uri="http://schemas.openxmlformats.org/drawingml/2006/table">
            <a:tbl>
              <a:tblPr firstRow="1" bandRow="1">
                <a:tableStyleId>{2D5ABB26-0587-4C30-8999-92F81FD0307C}</a:tableStyleId>
              </a:tblPr>
              <a:tblGrid>
                <a:gridCol w="4912360">
                  <a:extLst>
                    <a:ext uri="{9D8B030D-6E8A-4147-A177-3AD203B41FA5}">
                      <a16:colId xmlns:a16="http://schemas.microsoft.com/office/drawing/2014/main" val="20000"/>
                    </a:ext>
                  </a:extLst>
                </a:gridCol>
                <a:gridCol w="4912360">
                  <a:extLst>
                    <a:ext uri="{9D8B030D-6E8A-4147-A177-3AD203B41FA5}">
                      <a16:colId xmlns:a16="http://schemas.microsoft.com/office/drawing/2014/main" val="20001"/>
                    </a:ext>
                  </a:extLst>
                </a:gridCol>
              </a:tblGrid>
              <a:tr h="884555">
                <a:tc>
                  <a:txBody>
                    <a:bodyPr/>
                    <a:lstStyle/>
                    <a:p>
                      <a:pPr>
                        <a:lnSpc>
                          <a:spcPct val="100000"/>
                        </a:lnSpc>
                        <a:spcBef>
                          <a:spcPts val="990"/>
                        </a:spcBef>
                      </a:pPr>
                      <a:endParaRPr sz="1400" dirty="0">
                        <a:latin typeface="Times New Roman"/>
                        <a:cs typeface="Times New Roman"/>
                      </a:endParaRPr>
                    </a:p>
                    <a:p>
                      <a:pPr marL="91440">
                        <a:lnSpc>
                          <a:spcPct val="100000"/>
                        </a:lnSpc>
                      </a:pPr>
                      <a:r>
                        <a:rPr sz="1400" b="1" spc="-10" dirty="0">
                          <a:solidFill>
                            <a:srgbClr val="FFFFFF"/>
                          </a:solidFill>
                          <a:latin typeface="Arial"/>
                          <a:cs typeface="Arial"/>
                        </a:rPr>
                        <a:t>Component</a:t>
                      </a:r>
                      <a:endParaRPr sz="1400" dirty="0">
                        <a:latin typeface="Arial"/>
                        <a:cs typeface="Arial"/>
                      </a:endParaRPr>
                    </a:p>
                  </a:txBody>
                  <a:tcPr marL="0" marR="0" marT="1257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nSpc>
                          <a:spcPct val="100000"/>
                        </a:lnSpc>
                        <a:spcBef>
                          <a:spcPts val="990"/>
                        </a:spcBef>
                      </a:pPr>
                      <a:endParaRPr sz="1400">
                        <a:latin typeface="Times New Roman"/>
                        <a:cs typeface="Times New Roman"/>
                      </a:endParaRPr>
                    </a:p>
                    <a:p>
                      <a:pPr marL="92075">
                        <a:lnSpc>
                          <a:spcPct val="100000"/>
                        </a:lnSpc>
                      </a:pPr>
                      <a:r>
                        <a:rPr sz="1400" b="1" spc="-10" dirty="0">
                          <a:solidFill>
                            <a:srgbClr val="FFFFFF"/>
                          </a:solidFill>
                          <a:latin typeface="Arial"/>
                          <a:cs typeface="Arial"/>
                        </a:rPr>
                        <a:t>Specification</a:t>
                      </a:r>
                      <a:endParaRPr sz="1400">
                        <a:latin typeface="Arial"/>
                        <a:cs typeface="Arial"/>
                      </a:endParaRPr>
                    </a:p>
                  </a:txBody>
                  <a:tcPr marL="0" marR="0" marT="1257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884555">
                <a:tc>
                  <a:txBody>
                    <a:bodyPr/>
                    <a:lstStyle/>
                    <a:p>
                      <a:pPr>
                        <a:lnSpc>
                          <a:spcPct val="100000"/>
                        </a:lnSpc>
                        <a:spcBef>
                          <a:spcPts val="990"/>
                        </a:spcBef>
                      </a:pPr>
                      <a:endParaRPr sz="1400">
                        <a:latin typeface="Times New Roman"/>
                        <a:cs typeface="Times New Roman"/>
                      </a:endParaRPr>
                    </a:p>
                    <a:p>
                      <a:pPr marL="91440">
                        <a:lnSpc>
                          <a:spcPct val="100000"/>
                        </a:lnSpc>
                        <a:spcBef>
                          <a:spcPts val="5"/>
                        </a:spcBef>
                      </a:pPr>
                      <a:r>
                        <a:rPr sz="1400" spc="-10" dirty="0">
                          <a:latin typeface="Arial MT"/>
                          <a:cs typeface="Arial MT"/>
                        </a:rPr>
                        <a:t>Processor</a:t>
                      </a:r>
                      <a:endParaRPr sz="1400">
                        <a:latin typeface="Arial MT"/>
                        <a:cs typeface="Arial MT"/>
                      </a:endParaRPr>
                    </a:p>
                  </a:txBody>
                  <a:tcPr marL="0" marR="0" marT="1257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nSpc>
                          <a:spcPct val="100000"/>
                        </a:lnSpc>
                        <a:spcBef>
                          <a:spcPts val="990"/>
                        </a:spcBef>
                      </a:pPr>
                      <a:endParaRPr sz="1400">
                        <a:latin typeface="Times New Roman"/>
                        <a:cs typeface="Times New Roman"/>
                      </a:endParaRPr>
                    </a:p>
                    <a:p>
                      <a:pPr marR="194945" algn="ctr">
                        <a:lnSpc>
                          <a:spcPct val="100000"/>
                        </a:lnSpc>
                        <a:spcBef>
                          <a:spcPts val="5"/>
                        </a:spcBef>
                      </a:pPr>
                      <a:r>
                        <a:rPr sz="1400" dirty="0">
                          <a:latin typeface="Arial MT"/>
                          <a:cs typeface="Arial MT"/>
                        </a:rPr>
                        <a:t>Intel</a:t>
                      </a:r>
                      <a:r>
                        <a:rPr sz="1400" spc="-40" dirty="0">
                          <a:latin typeface="Arial MT"/>
                          <a:cs typeface="Arial MT"/>
                        </a:rPr>
                        <a:t> </a:t>
                      </a:r>
                      <a:r>
                        <a:rPr sz="1400" dirty="0">
                          <a:latin typeface="Arial MT"/>
                          <a:cs typeface="Arial MT"/>
                        </a:rPr>
                        <a:t>Core</a:t>
                      </a:r>
                      <a:r>
                        <a:rPr sz="1400" spc="-30" dirty="0">
                          <a:latin typeface="Arial MT"/>
                          <a:cs typeface="Arial MT"/>
                        </a:rPr>
                        <a:t> </a:t>
                      </a:r>
                      <a:r>
                        <a:rPr sz="1400" dirty="0">
                          <a:latin typeface="Arial MT"/>
                          <a:cs typeface="Arial MT"/>
                        </a:rPr>
                        <a:t>i5</a:t>
                      </a:r>
                      <a:r>
                        <a:rPr sz="1400" spc="-20" dirty="0">
                          <a:latin typeface="Arial MT"/>
                          <a:cs typeface="Arial MT"/>
                        </a:rPr>
                        <a:t> </a:t>
                      </a:r>
                      <a:r>
                        <a:rPr sz="1400" dirty="0">
                          <a:latin typeface="Arial MT"/>
                          <a:cs typeface="Arial MT"/>
                        </a:rPr>
                        <a:t>/</a:t>
                      </a:r>
                      <a:r>
                        <a:rPr sz="1400" spc="-10" dirty="0">
                          <a:latin typeface="Arial MT"/>
                          <a:cs typeface="Arial MT"/>
                        </a:rPr>
                        <a:t> </a:t>
                      </a:r>
                      <a:r>
                        <a:rPr sz="1400" dirty="0">
                          <a:latin typeface="Arial MT"/>
                          <a:cs typeface="Arial MT"/>
                        </a:rPr>
                        <a:t>AMD</a:t>
                      </a:r>
                      <a:r>
                        <a:rPr sz="1400" spc="-25" dirty="0">
                          <a:latin typeface="Arial MT"/>
                          <a:cs typeface="Arial MT"/>
                        </a:rPr>
                        <a:t> </a:t>
                      </a:r>
                      <a:r>
                        <a:rPr sz="1400" dirty="0">
                          <a:latin typeface="Arial MT"/>
                          <a:cs typeface="Arial MT"/>
                        </a:rPr>
                        <a:t>Ryzen</a:t>
                      </a:r>
                      <a:r>
                        <a:rPr sz="1400" spc="-10" dirty="0">
                          <a:latin typeface="Arial MT"/>
                          <a:cs typeface="Arial MT"/>
                        </a:rPr>
                        <a:t> </a:t>
                      </a:r>
                      <a:r>
                        <a:rPr sz="1400" dirty="0">
                          <a:latin typeface="Arial MT"/>
                          <a:cs typeface="Arial MT"/>
                        </a:rPr>
                        <a:t>5</a:t>
                      </a:r>
                      <a:r>
                        <a:rPr sz="1400" spc="-20" dirty="0">
                          <a:latin typeface="Arial MT"/>
                          <a:cs typeface="Arial MT"/>
                        </a:rPr>
                        <a:t> </a:t>
                      </a:r>
                      <a:r>
                        <a:rPr sz="1400" dirty="0">
                          <a:latin typeface="Arial MT"/>
                          <a:cs typeface="Arial MT"/>
                        </a:rPr>
                        <a:t>or</a:t>
                      </a:r>
                      <a:r>
                        <a:rPr sz="1400" spc="-25" dirty="0">
                          <a:latin typeface="Arial MT"/>
                          <a:cs typeface="Arial MT"/>
                        </a:rPr>
                        <a:t> </a:t>
                      </a:r>
                      <a:r>
                        <a:rPr sz="1400" spc="-10" dirty="0">
                          <a:latin typeface="Arial MT"/>
                          <a:cs typeface="Arial MT"/>
                        </a:rPr>
                        <a:t>higher</a:t>
                      </a:r>
                      <a:endParaRPr sz="1400">
                        <a:latin typeface="Arial MT"/>
                        <a:cs typeface="Arial MT"/>
                      </a:endParaRPr>
                    </a:p>
                  </a:txBody>
                  <a:tcPr marL="0" marR="0" marT="1257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884555">
                <a:tc>
                  <a:txBody>
                    <a:bodyPr/>
                    <a:lstStyle/>
                    <a:p>
                      <a:pPr>
                        <a:lnSpc>
                          <a:spcPct val="100000"/>
                        </a:lnSpc>
                        <a:spcBef>
                          <a:spcPts val="990"/>
                        </a:spcBef>
                      </a:pPr>
                      <a:endParaRPr sz="1400">
                        <a:latin typeface="Times New Roman"/>
                        <a:cs typeface="Times New Roman"/>
                      </a:endParaRPr>
                    </a:p>
                    <a:p>
                      <a:pPr marL="91440">
                        <a:lnSpc>
                          <a:spcPct val="100000"/>
                        </a:lnSpc>
                        <a:spcBef>
                          <a:spcPts val="5"/>
                        </a:spcBef>
                      </a:pPr>
                      <a:r>
                        <a:rPr sz="1400" spc="-25" dirty="0">
                          <a:latin typeface="Arial MT"/>
                          <a:cs typeface="Arial MT"/>
                        </a:rPr>
                        <a:t>RAM</a:t>
                      </a:r>
                      <a:endParaRPr sz="1400">
                        <a:latin typeface="Arial MT"/>
                        <a:cs typeface="Arial MT"/>
                      </a:endParaRPr>
                    </a:p>
                  </a:txBody>
                  <a:tcPr marL="0" marR="0" marT="1257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spcBef>
                          <a:spcPts val="990"/>
                        </a:spcBef>
                      </a:pPr>
                      <a:endParaRPr sz="1400" dirty="0">
                        <a:latin typeface="Times New Roman"/>
                        <a:cs typeface="Times New Roman"/>
                      </a:endParaRPr>
                    </a:p>
                    <a:p>
                      <a:pPr marL="92075">
                        <a:lnSpc>
                          <a:spcPct val="100000"/>
                        </a:lnSpc>
                        <a:spcBef>
                          <a:spcPts val="5"/>
                        </a:spcBef>
                      </a:pPr>
                      <a:r>
                        <a:rPr lang="en-IN" sz="1400" dirty="0">
                          <a:latin typeface="Arial MT"/>
                          <a:cs typeface="Arial MT"/>
                        </a:rPr>
                        <a:t>8 </a:t>
                      </a:r>
                      <a:r>
                        <a:rPr sz="1400" dirty="0">
                          <a:latin typeface="Arial MT"/>
                          <a:cs typeface="Arial MT"/>
                        </a:rPr>
                        <a:t>GB</a:t>
                      </a:r>
                      <a:r>
                        <a:rPr sz="1400" spc="-15" dirty="0">
                          <a:latin typeface="Arial MT"/>
                          <a:cs typeface="Arial MT"/>
                        </a:rPr>
                        <a:t> </a:t>
                      </a:r>
                      <a:r>
                        <a:rPr sz="1400" dirty="0">
                          <a:latin typeface="Arial MT"/>
                          <a:cs typeface="Arial MT"/>
                        </a:rPr>
                        <a:t>minimum</a:t>
                      </a:r>
                      <a:r>
                        <a:rPr sz="1400" spc="-20" dirty="0">
                          <a:latin typeface="Arial MT"/>
                          <a:cs typeface="Arial MT"/>
                        </a:rPr>
                        <a:t> </a:t>
                      </a:r>
                      <a:r>
                        <a:rPr sz="1400" dirty="0">
                          <a:latin typeface="Arial MT"/>
                          <a:cs typeface="Arial MT"/>
                        </a:rPr>
                        <a:t>(</a:t>
                      </a:r>
                      <a:r>
                        <a:rPr lang="en-IN" sz="1400" dirty="0">
                          <a:latin typeface="Arial MT"/>
                          <a:cs typeface="Arial MT"/>
                        </a:rPr>
                        <a:t>16</a:t>
                      </a:r>
                      <a:r>
                        <a:rPr sz="1400" spc="-25" dirty="0">
                          <a:latin typeface="Arial MT"/>
                          <a:cs typeface="Arial MT"/>
                        </a:rPr>
                        <a:t> </a:t>
                      </a:r>
                      <a:r>
                        <a:rPr sz="1400" dirty="0">
                          <a:latin typeface="Arial MT"/>
                          <a:cs typeface="Arial MT"/>
                        </a:rPr>
                        <a:t>GB</a:t>
                      </a:r>
                      <a:r>
                        <a:rPr sz="1400" spc="-15" dirty="0">
                          <a:latin typeface="Arial MT"/>
                          <a:cs typeface="Arial MT"/>
                        </a:rPr>
                        <a:t> </a:t>
                      </a:r>
                      <a:r>
                        <a:rPr sz="1400" spc="-10" dirty="0">
                          <a:latin typeface="Arial MT"/>
                          <a:cs typeface="Arial MT"/>
                        </a:rPr>
                        <a:t>recommended)</a:t>
                      </a:r>
                      <a:endParaRPr sz="1400" dirty="0">
                        <a:latin typeface="Arial MT"/>
                        <a:cs typeface="Arial MT"/>
                      </a:endParaRPr>
                    </a:p>
                  </a:txBody>
                  <a:tcPr marL="0" marR="0" marT="1257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884555">
                <a:tc>
                  <a:txBody>
                    <a:bodyPr/>
                    <a:lstStyle/>
                    <a:p>
                      <a:pPr>
                        <a:lnSpc>
                          <a:spcPct val="100000"/>
                        </a:lnSpc>
                        <a:spcBef>
                          <a:spcPts val="994"/>
                        </a:spcBef>
                      </a:pPr>
                      <a:endParaRPr sz="1400">
                        <a:latin typeface="Times New Roman"/>
                        <a:cs typeface="Times New Roman"/>
                      </a:endParaRPr>
                    </a:p>
                    <a:p>
                      <a:pPr marL="91440">
                        <a:lnSpc>
                          <a:spcPct val="100000"/>
                        </a:lnSpc>
                      </a:pPr>
                      <a:r>
                        <a:rPr sz="1400" spc="-25" dirty="0">
                          <a:latin typeface="Arial MT"/>
                          <a:cs typeface="Arial MT"/>
                        </a:rPr>
                        <a:t>GPU</a:t>
                      </a:r>
                      <a:endParaRPr sz="1400">
                        <a:latin typeface="Arial MT"/>
                        <a:cs typeface="Arial MT"/>
                      </a:endParaRPr>
                    </a:p>
                  </a:txBody>
                  <a:tcPr marL="0" marR="0" marT="12636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spcBef>
                          <a:spcPts val="994"/>
                        </a:spcBef>
                      </a:pPr>
                      <a:endParaRPr sz="1400">
                        <a:latin typeface="Times New Roman"/>
                        <a:cs typeface="Times New Roman"/>
                      </a:endParaRPr>
                    </a:p>
                    <a:p>
                      <a:pPr marL="1913255">
                        <a:lnSpc>
                          <a:spcPct val="100000"/>
                        </a:lnSpc>
                      </a:pPr>
                      <a:r>
                        <a:rPr sz="1400" dirty="0">
                          <a:latin typeface="Arial MT"/>
                          <a:cs typeface="Arial MT"/>
                        </a:rPr>
                        <a:t>NVIDIA</a:t>
                      </a:r>
                      <a:r>
                        <a:rPr sz="1400" spc="-20" dirty="0">
                          <a:latin typeface="Arial MT"/>
                          <a:cs typeface="Arial MT"/>
                        </a:rPr>
                        <a:t> </a:t>
                      </a:r>
                      <a:r>
                        <a:rPr sz="1400" dirty="0">
                          <a:latin typeface="Arial MT"/>
                          <a:cs typeface="Arial MT"/>
                        </a:rPr>
                        <a:t>GPU</a:t>
                      </a:r>
                      <a:r>
                        <a:rPr sz="1400" spc="-25" dirty="0">
                          <a:latin typeface="Arial MT"/>
                          <a:cs typeface="Arial MT"/>
                        </a:rPr>
                        <a:t> </a:t>
                      </a:r>
                      <a:r>
                        <a:rPr sz="1400" dirty="0">
                          <a:latin typeface="Arial MT"/>
                          <a:cs typeface="Arial MT"/>
                        </a:rPr>
                        <a:t>with</a:t>
                      </a:r>
                      <a:r>
                        <a:rPr sz="1400" spc="-10" dirty="0">
                          <a:latin typeface="Arial MT"/>
                          <a:cs typeface="Arial MT"/>
                        </a:rPr>
                        <a:t> </a:t>
                      </a:r>
                      <a:r>
                        <a:rPr sz="1400" dirty="0">
                          <a:latin typeface="Arial MT"/>
                          <a:cs typeface="Arial MT"/>
                        </a:rPr>
                        <a:t>8+</a:t>
                      </a:r>
                      <a:r>
                        <a:rPr sz="1400" spc="-35" dirty="0">
                          <a:latin typeface="Arial MT"/>
                          <a:cs typeface="Arial MT"/>
                        </a:rPr>
                        <a:t> </a:t>
                      </a:r>
                      <a:r>
                        <a:rPr sz="1400" dirty="0">
                          <a:latin typeface="Arial MT"/>
                          <a:cs typeface="Arial MT"/>
                        </a:rPr>
                        <a:t>GB</a:t>
                      </a:r>
                      <a:r>
                        <a:rPr sz="1400" spc="-20" dirty="0">
                          <a:latin typeface="Arial MT"/>
                          <a:cs typeface="Arial MT"/>
                        </a:rPr>
                        <a:t> VRAM</a:t>
                      </a:r>
                      <a:endParaRPr sz="1400">
                        <a:latin typeface="Arial MT"/>
                        <a:cs typeface="Arial MT"/>
                      </a:endParaRPr>
                    </a:p>
                  </a:txBody>
                  <a:tcPr marL="0" marR="0" marT="12636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884555">
                <a:tc>
                  <a:txBody>
                    <a:bodyPr/>
                    <a:lstStyle/>
                    <a:p>
                      <a:pPr>
                        <a:lnSpc>
                          <a:spcPct val="100000"/>
                        </a:lnSpc>
                        <a:spcBef>
                          <a:spcPts val="994"/>
                        </a:spcBef>
                      </a:pPr>
                      <a:endParaRPr sz="1400">
                        <a:latin typeface="Times New Roman"/>
                        <a:cs typeface="Times New Roman"/>
                      </a:endParaRPr>
                    </a:p>
                    <a:p>
                      <a:pPr marL="91440">
                        <a:lnSpc>
                          <a:spcPct val="100000"/>
                        </a:lnSpc>
                      </a:pPr>
                      <a:r>
                        <a:rPr sz="1400" spc="-10" dirty="0">
                          <a:latin typeface="Arial MT"/>
                          <a:cs typeface="Arial MT"/>
                        </a:rPr>
                        <a:t>Storage</a:t>
                      </a:r>
                      <a:endParaRPr sz="1400">
                        <a:latin typeface="Arial MT"/>
                        <a:cs typeface="Arial MT"/>
                      </a:endParaRPr>
                    </a:p>
                  </a:txBody>
                  <a:tcPr marL="0" marR="0" marT="12636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spcBef>
                          <a:spcPts val="994"/>
                        </a:spcBef>
                      </a:pPr>
                      <a:endParaRPr sz="1400" dirty="0">
                        <a:latin typeface="Times New Roman"/>
                        <a:cs typeface="Times New Roman"/>
                      </a:endParaRPr>
                    </a:p>
                    <a:p>
                      <a:pPr marL="92075">
                        <a:lnSpc>
                          <a:spcPct val="100000"/>
                        </a:lnSpc>
                      </a:pPr>
                      <a:r>
                        <a:rPr lang="en-IN" sz="1400" dirty="0">
                          <a:latin typeface="Arial MT"/>
                          <a:cs typeface="Arial MT"/>
                        </a:rPr>
                        <a:t>20-</a:t>
                      </a:r>
                      <a:r>
                        <a:rPr sz="1400" dirty="0">
                          <a:latin typeface="Arial MT"/>
                          <a:cs typeface="Arial MT"/>
                        </a:rPr>
                        <a:t>50</a:t>
                      </a:r>
                      <a:r>
                        <a:rPr sz="1400" spc="-25" dirty="0">
                          <a:latin typeface="Arial MT"/>
                          <a:cs typeface="Arial MT"/>
                        </a:rPr>
                        <a:t> </a:t>
                      </a:r>
                      <a:r>
                        <a:rPr sz="1400" dirty="0">
                          <a:latin typeface="Arial MT"/>
                          <a:cs typeface="Arial MT"/>
                        </a:rPr>
                        <a:t>GB</a:t>
                      </a:r>
                      <a:r>
                        <a:rPr sz="1400" spc="-20" dirty="0">
                          <a:latin typeface="Arial MT"/>
                          <a:cs typeface="Arial MT"/>
                        </a:rPr>
                        <a:t> </a:t>
                      </a:r>
                      <a:r>
                        <a:rPr sz="1400" dirty="0">
                          <a:latin typeface="Arial MT"/>
                          <a:cs typeface="Arial MT"/>
                        </a:rPr>
                        <a:t>free</a:t>
                      </a:r>
                      <a:r>
                        <a:rPr sz="1400" spc="-25" dirty="0">
                          <a:latin typeface="Arial MT"/>
                          <a:cs typeface="Arial MT"/>
                        </a:rPr>
                        <a:t> </a:t>
                      </a:r>
                      <a:r>
                        <a:rPr sz="1400" dirty="0">
                          <a:latin typeface="Arial MT"/>
                          <a:cs typeface="Arial MT"/>
                        </a:rPr>
                        <a:t>disk</a:t>
                      </a:r>
                      <a:r>
                        <a:rPr sz="1400" spc="-30" dirty="0">
                          <a:latin typeface="Arial MT"/>
                          <a:cs typeface="Arial MT"/>
                        </a:rPr>
                        <a:t> </a:t>
                      </a:r>
                      <a:r>
                        <a:rPr sz="1400" dirty="0">
                          <a:latin typeface="Arial MT"/>
                          <a:cs typeface="Arial MT"/>
                        </a:rPr>
                        <a:t>space</a:t>
                      </a:r>
                      <a:r>
                        <a:rPr sz="1400" spc="-35" dirty="0">
                          <a:latin typeface="Arial MT"/>
                          <a:cs typeface="Arial MT"/>
                        </a:rPr>
                        <a:t> </a:t>
                      </a:r>
                      <a:r>
                        <a:rPr sz="1400" dirty="0">
                          <a:latin typeface="Arial MT"/>
                          <a:cs typeface="Arial MT"/>
                        </a:rPr>
                        <a:t>(SSD</a:t>
                      </a:r>
                      <a:r>
                        <a:rPr sz="1400" spc="-10" dirty="0">
                          <a:latin typeface="Arial MT"/>
                          <a:cs typeface="Arial MT"/>
                        </a:rPr>
                        <a:t> preferred)</a:t>
                      </a:r>
                      <a:endParaRPr sz="1400" dirty="0">
                        <a:latin typeface="Arial MT"/>
                        <a:cs typeface="Arial MT"/>
                      </a:endParaRPr>
                    </a:p>
                  </a:txBody>
                  <a:tcPr marL="0" marR="0" marT="12636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bl>
          </a:graphicData>
        </a:graphic>
      </p:graphicFrame>
      <p:pic>
        <p:nvPicPr>
          <p:cNvPr id="4" name="object 4" descr="https://images.openai.com/static-rsc-4/HGKh-IPe216U8LTofnK-YwJeIV7TA-YBeiOz6a6Bak1DeEABqaAp7vrzPclPqS7YYWGC2XCKgkW5PhBWQw2vmOUwxB65AmbjQ6cdF6s1tYSW-sI18CizHj7cf9-WDVqi1sq0b0xp-JTcdXwwTbf6bi1iSbSb-A6i9liGt9EuGtJnYWAmgYN_YQQA_gf9HXbK?purpose=fullsize"/>
          <p:cNvPicPr/>
          <p:nvPr/>
        </p:nvPicPr>
        <p:blipFill>
          <a:blip r:embed="rId2" cstate="print"/>
          <a:stretch>
            <a:fillRect/>
          </a:stretch>
        </p:blipFill>
        <p:spPr>
          <a:xfrm>
            <a:off x="6393179" y="2258567"/>
            <a:ext cx="621792" cy="621791"/>
          </a:xfrm>
          <a:prstGeom prst="rect">
            <a:avLst/>
          </a:prstGeom>
        </p:spPr>
      </p:pic>
      <p:pic>
        <p:nvPicPr>
          <p:cNvPr id="5" name="object 5" descr="DeepSeek 绕开 CUDA ？一文搞懂 CUDA 为何是英伟达的“护城河”_deepseek cuda-CSDN博客"/>
          <p:cNvPicPr/>
          <p:nvPr/>
        </p:nvPicPr>
        <p:blipFill>
          <a:blip r:embed="rId3" cstate="print"/>
          <a:stretch>
            <a:fillRect/>
          </a:stretch>
        </p:blipFill>
        <p:spPr>
          <a:xfrm>
            <a:off x="6393179" y="4050791"/>
            <a:ext cx="1520571" cy="5534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08406" rIns="0" bIns="0" rtlCol="0">
            <a:spAutoFit/>
          </a:bodyPr>
          <a:lstStyle/>
          <a:p>
            <a:pPr marL="479425">
              <a:lnSpc>
                <a:spcPct val="100000"/>
              </a:lnSpc>
              <a:spcBef>
                <a:spcPts val="105"/>
              </a:spcBef>
            </a:pPr>
            <a:r>
              <a:rPr dirty="0"/>
              <a:t>Software</a:t>
            </a:r>
            <a:r>
              <a:rPr spc="-80" dirty="0"/>
              <a:t> </a:t>
            </a:r>
            <a:r>
              <a:rPr spc="-10" dirty="0"/>
              <a:t>Requirements</a:t>
            </a:r>
          </a:p>
        </p:txBody>
      </p:sp>
      <p:graphicFrame>
        <p:nvGraphicFramePr>
          <p:cNvPr id="3" name="object 3"/>
          <p:cNvGraphicFramePr>
            <a:graphicFrameLocks noGrp="1"/>
          </p:cNvGraphicFramePr>
          <p:nvPr>
            <p:extLst>
              <p:ext uri="{D42A27DB-BD31-4B8C-83A1-F6EECF244321}">
                <p14:modId xmlns:p14="http://schemas.microsoft.com/office/powerpoint/2010/main" val="3297868394"/>
              </p:ext>
            </p:extLst>
          </p:nvPr>
        </p:nvGraphicFramePr>
        <p:xfrm>
          <a:off x="1066800" y="821512"/>
          <a:ext cx="8305800" cy="5731686"/>
        </p:xfrm>
        <a:graphic>
          <a:graphicData uri="http://schemas.openxmlformats.org/drawingml/2006/table">
            <a:tbl>
              <a:tblPr firstRow="1" bandRow="1">
                <a:tableStyleId>{2D5ABB26-0587-4C30-8999-92F81FD0307C}</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636854">
                <a:tc>
                  <a:txBody>
                    <a:bodyPr/>
                    <a:lstStyle/>
                    <a:p>
                      <a:pPr>
                        <a:lnSpc>
                          <a:spcPct val="100000"/>
                        </a:lnSpc>
                        <a:spcBef>
                          <a:spcPts val="240"/>
                        </a:spcBef>
                      </a:pPr>
                      <a:endParaRPr sz="1400" dirty="0">
                        <a:latin typeface="Times New Roman"/>
                        <a:cs typeface="Times New Roman"/>
                      </a:endParaRPr>
                    </a:p>
                    <a:p>
                      <a:pPr marL="91440">
                        <a:lnSpc>
                          <a:spcPct val="100000"/>
                        </a:lnSpc>
                      </a:pPr>
                      <a:r>
                        <a:rPr sz="1400" b="1" spc="-10" dirty="0">
                          <a:solidFill>
                            <a:srgbClr val="FFFFFF"/>
                          </a:solidFill>
                          <a:latin typeface="Arial"/>
                          <a:cs typeface="Arial"/>
                        </a:rPr>
                        <a:t>Component</a:t>
                      </a:r>
                      <a:endParaRPr sz="1400" dirty="0">
                        <a:latin typeface="Arial"/>
                        <a:cs typeface="Aria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nSpc>
                          <a:spcPct val="100000"/>
                        </a:lnSpc>
                        <a:spcBef>
                          <a:spcPts val="240"/>
                        </a:spcBef>
                      </a:pPr>
                      <a:endParaRPr sz="1400">
                        <a:latin typeface="Times New Roman"/>
                        <a:cs typeface="Times New Roman"/>
                      </a:endParaRPr>
                    </a:p>
                    <a:p>
                      <a:pPr marL="92075">
                        <a:lnSpc>
                          <a:spcPct val="100000"/>
                        </a:lnSpc>
                      </a:pPr>
                      <a:r>
                        <a:rPr sz="1400" b="1" spc="-10" dirty="0">
                          <a:solidFill>
                            <a:srgbClr val="FFFFFF"/>
                          </a:solidFill>
                          <a:latin typeface="Arial"/>
                          <a:cs typeface="Arial"/>
                        </a:rPr>
                        <a:t>Technology</a:t>
                      </a:r>
                      <a:endParaRPr sz="1400">
                        <a:latin typeface="Arial"/>
                        <a:cs typeface="Arial"/>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636854">
                <a:tc>
                  <a:txBody>
                    <a:bodyPr/>
                    <a:lstStyle/>
                    <a:p>
                      <a:pPr>
                        <a:lnSpc>
                          <a:spcPct val="100000"/>
                        </a:lnSpc>
                        <a:spcBef>
                          <a:spcPts val="240"/>
                        </a:spcBef>
                      </a:pPr>
                      <a:endParaRPr sz="1400">
                        <a:latin typeface="Times New Roman"/>
                        <a:cs typeface="Times New Roman"/>
                      </a:endParaRPr>
                    </a:p>
                    <a:p>
                      <a:pPr marL="91440">
                        <a:lnSpc>
                          <a:spcPct val="100000"/>
                        </a:lnSpc>
                      </a:pPr>
                      <a:r>
                        <a:rPr sz="1400" dirty="0">
                          <a:latin typeface="Arial MT"/>
                          <a:cs typeface="Arial MT"/>
                        </a:rPr>
                        <a:t>Programming</a:t>
                      </a:r>
                      <a:r>
                        <a:rPr sz="1400" spc="-90" dirty="0">
                          <a:latin typeface="Arial MT"/>
                          <a:cs typeface="Arial MT"/>
                        </a:rPr>
                        <a:t> </a:t>
                      </a:r>
                      <a:r>
                        <a:rPr sz="1400" spc="-10" dirty="0">
                          <a:latin typeface="Arial MT"/>
                          <a:cs typeface="Arial MT"/>
                        </a:rPr>
                        <a:t>Language</a:t>
                      </a:r>
                      <a:endParaRPr sz="1400">
                        <a:latin typeface="Arial MT"/>
                        <a:cs typeface="Arial MT"/>
                      </a:endParaRPr>
                    </a:p>
                  </a:txBody>
                  <a:tcPr marL="0" marR="0" marT="30480" marB="0">
                    <a:lnL w="12700">
                      <a:solidFill>
                        <a:srgbClr val="FFFFFF"/>
                      </a:solidFill>
                      <a:prstDash val="soli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lnB>
                    <a:solidFill>
                      <a:srgbClr val="D0D7E8"/>
                    </a:solidFill>
                  </a:tcPr>
                </a:tc>
                <a:tc>
                  <a:txBody>
                    <a:bodyPr/>
                    <a:lstStyle/>
                    <a:p>
                      <a:pPr>
                        <a:lnSpc>
                          <a:spcPct val="100000"/>
                        </a:lnSpc>
                        <a:spcBef>
                          <a:spcPts val="240"/>
                        </a:spcBef>
                      </a:pPr>
                      <a:endParaRPr sz="1400" dirty="0">
                        <a:latin typeface="Times New Roman"/>
                        <a:cs typeface="Times New Roman"/>
                      </a:endParaRPr>
                    </a:p>
                    <a:p>
                      <a:pPr marL="979169">
                        <a:lnSpc>
                          <a:spcPct val="100000"/>
                        </a:lnSpc>
                      </a:pPr>
                      <a:r>
                        <a:rPr sz="1400" dirty="0">
                          <a:latin typeface="Arial MT"/>
                          <a:cs typeface="Arial MT"/>
                        </a:rPr>
                        <a:t>Python</a:t>
                      </a:r>
                      <a:r>
                        <a:rPr sz="1400" spc="-60" dirty="0">
                          <a:latin typeface="Arial MT"/>
                          <a:cs typeface="Arial MT"/>
                        </a:rPr>
                        <a:t> </a:t>
                      </a:r>
                      <a:r>
                        <a:rPr sz="1400" spc="-10" dirty="0">
                          <a:latin typeface="Arial MT"/>
                          <a:cs typeface="Arial MT"/>
                        </a:rPr>
                        <a:t>3.1</a:t>
                      </a:r>
                      <a:r>
                        <a:rPr lang="en-US" sz="1400" spc="-10" dirty="0">
                          <a:latin typeface="Arial MT"/>
                          <a:cs typeface="Arial MT"/>
                        </a:rPr>
                        <a:t>1-3.12</a:t>
                      </a:r>
                      <a:endParaRPr sz="1400" dirty="0">
                        <a:latin typeface="Arial MT"/>
                        <a:cs typeface="Arial MT"/>
                      </a:endParaRPr>
                    </a:p>
                  </a:txBody>
                  <a:tcPr marL="0" marR="0" marT="30480" marB="0">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a:solidFill>
                        <a:srgbClr val="FFFFFF"/>
                      </a:solidFill>
                      <a:prstDash val="solid"/>
                    </a:lnB>
                    <a:solidFill>
                      <a:srgbClr val="D0D7E8"/>
                    </a:solidFill>
                  </a:tcPr>
                </a:tc>
                <a:extLst>
                  <a:ext uri="{0D108BD9-81ED-4DB2-BD59-A6C34878D82A}">
                    <a16:rowId xmlns:a16="http://schemas.microsoft.com/office/drawing/2014/main" val="10001"/>
                  </a:ext>
                </a:extLst>
              </a:tr>
              <a:tr h="636854">
                <a:tc>
                  <a:txBody>
                    <a:bodyPr/>
                    <a:lstStyle/>
                    <a:p>
                      <a:pPr>
                        <a:lnSpc>
                          <a:spcPct val="100000"/>
                        </a:lnSpc>
                        <a:spcBef>
                          <a:spcPts val="240"/>
                        </a:spcBef>
                      </a:pPr>
                      <a:endParaRPr sz="1400" dirty="0">
                        <a:latin typeface="Times New Roman"/>
                        <a:cs typeface="Times New Roman"/>
                      </a:endParaRPr>
                    </a:p>
                    <a:p>
                      <a:pPr marL="91440">
                        <a:lnSpc>
                          <a:spcPct val="100000"/>
                        </a:lnSpc>
                      </a:pPr>
                      <a:r>
                        <a:rPr sz="1400" spc="-10" dirty="0">
                          <a:latin typeface="Arial MT"/>
                          <a:cs typeface="Arial MT"/>
                        </a:rPr>
                        <a:t>Framework</a:t>
                      </a:r>
                      <a:endParaRPr sz="1400" dirty="0">
                        <a:latin typeface="Arial MT"/>
                        <a:cs typeface="Arial MT"/>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spcBef>
                          <a:spcPts val="240"/>
                        </a:spcBef>
                      </a:pPr>
                      <a:endParaRPr sz="1400" dirty="0">
                        <a:latin typeface="Times New Roman"/>
                        <a:cs typeface="Times New Roman"/>
                      </a:endParaRPr>
                    </a:p>
                    <a:p>
                      <a:pPr marR="1574800" algn="r">
                        <a:lnSpc>
                          <a:spcPct val="100000"/>
                        </a:lnSpc>
                      </a:pPr>
                      <a:r>
                        <a:rPr lang="en-US" sz="1400" spc="-10" dirty="0">
                          <a:latin typeface="Arial MT"/>
                          <a:cs typeface="Arial MT"/>
                        </a:rPr>
                        <a:t>      </a:t>
                      </a:r>
                      <a:r>
                        <a:rPr sz="1400" spc="-10" dirty="0" err="1">
                          <a:latin typeface="Arial MT"/>
                          <a:cs typeface="Arial MT"/>
                        </a:rPr>
                        <a:t>LangChain</a:t>
                      </a:r>
                      <a:r>
                        <a:rPr lang="en-US" sz="1400" spc="-10" dirty="0" err="1">
                          <a:latin typeface="Arial MT"/>
                          <a:cs typeface="Arial MT"/>
                        </a:rPr>
                        <a:t>,LangGraph</a:t>
                      </a:r>
                      <a:endParaRPr sz="1400" dirty="0">
                        <a:latin typeface="Arial MT"/>
                        <a:cs typeface="Arial MT"/>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636854">
                <a:tc>
                  <a:txBody>
                    <a:bodyPr/>
                    <a:lstStyle/>
                    <a:p>
                      <a:pPr>
                        <a:lnSpc>
                          <a:spcPct val="100000"/>
                        </a:lnSpc>
                        <a:spcBef>
                          <a:spcPts val="240"/>
                        </a:spcBef>
                      </a:pPr>
                      <a:endParaRPr sz="1400" dirty="0">
                        <a:latin typeface="Times New Roman"/>
                        <a:cs typeface="Times New Roman"/>
                      </a:endParaRPr>
                    </a:p>
                    <a:p>
                      <a:pPr marL="91440">
                        <a:lnSpc>
                          <a:spcPct val="100000"/>
                        </a:lnSpc>
                      </a:pPr>
                      <a:r>
                        <a:rPr sz="1400" dirty="0">
                          <a:latin typeface="Arial MT"/>
                          <a:cs typeface="Arial MT"/>
                        </a:rPr>
                        <a:t>Large</a:t>
                      </a:r>
                      <a:r>
                        <a:rPr sz="1400" spc="-65" dirty="0">
                          <a:latin typeface="Arial MT"/>
                          <a:cs typeface="Arial MT"/>
                        </a:rPr>
                        <a:t> </a:t>
                      </a:r>
                      <a:r>
                        <a:rPr sz="1400" dirty="0">
                          <a:latin typeface="Arial MT"/>
                          <a:cs typeface="Arial MT"/>
                        </a:rPr>
                        <a:t>Language</a:t>
                      </a:r>
                      <a:r>
                        <a:rPr sz="1400" spc="-70" dirty="0">
                          <a:latin typeface="Arial MT"/>
                          <a:cs typeface="Arial MT"/>
                        </a:rPr>
                        <a:t> </a:t>
                      </a:r>
                      <a:r>
                        <a:rPr sz="1400" spc="-10" dirty="0">
                          <a:latin typeface="Arial MT"/>
                          <a:cs typeface="Arial MT"/>
                        </a:rPr>
                        <a:t>Model</a:t>
                      </a:r>
                      <a:r>
                        <a:rPr lang="en-IN" sz="1400" spc="-10" dirty="0">
                          <a:latin typeface="Arial MT"/>
                          <a:cs typeface="Arial MT"/>
                        </a:rPr>
                        <a:t> Runtime</a:t>
                      </a:r>
                      <a:endParaRPr sz="1400" dirty="0">
                        <a:latin typeface="Arial MT"/>
                        <a:cs typeface="Arial MT"/>
                      </a:endParaRPr>
                    </a:p>
                  </a:txBody>
                  <a:tcPr marL="0" marR="0" marT="30480"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D0D7E8"/>
                    </a:solidFill>
                  </a:tcPr>
                </a:tc>
                <a:tc>
                  <a:txBody>
                    <a:bodyPr/>
                    <a:lstStyle/>
                    <a:p>
                      <a:pPr>
                        <a:lnSpc>
                          <a:spcPct val="100000"/>
                        </a:lnSpc>
                        <a:spcBef>
                          <a:spcPts val="240"/>
                        </a:spcBef>
                      </a:pPr>
                      <a:endParaRPr lang="en-IN" sz="1400" dirty="0">
                        <a:latin typeface="Times New Roman"/>
                        <a:cs typeface="Times New Roman"/>
                      </a:endParaRPr>
                    </a:p>
                    <a:p>
                      <a:pPr>
                        <a:lnSpc>
                          <a:spcPct val="100000"/>
                        </a:lnSpc>
                        <a:spcBef>
                          <a:spcPts val="240"/>
                        </a:spcBef>
                      </a:pPr>
                      <a:r>
                        <a:rPr lang="en-IN" sz="1400" dirty="0"/>
                        <a:t>                       llama.cpp / </a:t>
                      </a:r>
                      <a:r>
                        <a:rPr lang="en-IN" sz="1400" dirty="0" err="1"/>
                        <a:t>Ollama</a:t>
                      </a:r>
                      <a:r>
                        <a:rPr lang="en-IN" sz="1400" dirty="0"/>
                        <a:t> / MLX_LM / Gemini</a:t>
                      </a:r>
                      <a:endParaRPr sz="1400" dirty="0">
                        <a:latin typeface="Times New Roman"/>
                        <a:cs typeface="Times New Roman"/>
                      </a:endParaRPr>
                    </a:p>
                  </a:txBody>
                  <a:tcPr marL="0" marR="0" marT="3048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D0D7E8"/>
                    </a:solidFill>
                  </a:tcPr>
                </a:tc>
                <a:extLst>
                  <a:ext uri="{0D108BD9-81ED-4DB2-BD59-A6C34878D82A}">
                    <a16:rowId xmlns:a16="http://schemas.microsoft.com/office/drawing/2014/main" val="10003"/>
                  </a:ext>
                </a:extLst>
              </a:tr>
              <a:tr h="636854">
                <a:tc>
                  <a:txBody>
                    <a:bodyPr/>
                    <a:lstStyle/>
                    <a:p>
                      <a:pPr>
                        <a:lnSpc>
                          <a:spcPct val="100000"/>
                        </a:lnSpc>
                        <a:spcBef>
                          <a:spcPts val="240"/>
                        </a:spcBef>
                      </a:pPr>
                      <a:endParaRPr sz="1400" dirty="0">
                        <a:latin typeface="Times New Roman"/>
                        <a:cs typeface="Times New Roman"/>
                      </a:endParaRPr>
                    </a:p>
                    <a:p>
                      <a:pPr marL="91440">
                        <a:lnSpc>
                          <a:spcPct val="100000"/>
                        </a:lnSpc>
                        <a:spcBef>
                          <a:spcPts val="5"/>
                        </a:spcBef>
                      </a:pPr>
                      <a:r>
                        <a:rPr sz="1400" dirty="0">
                          <a:latin typeface="Arial MT"/>
                          <a:cs typeface="Arial MT"/>
                        </a:rPr>
                        <a:t>Embedding</a:t>
                      </a:r>
                      <a:r>
                        <a:rPr sz="1400" spc="-75" dirty="0">
                          <a:latin typeface="Arial MT"/>
                          <a:cs typeface="Arial MT"/>
                        </a:rPr>
                        <a:t> </a:t>
                      </a:r>
                      <a:r>
                        <a:rPr sz="1400" spc="-10" dirty="0">
                          <a:latin typeface="Arial MT"/>
                          <a:cs typeface="Arial MT"/>
                        </a:rPr>
                        <a:t>Model</a:t>
                      </a:r>
                      <a:endParaRPr sz="1400" dirty="0">
                        <a:latin typeface="Arial MT"/>
                        <a:cs typeface="Arial MT"/>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spcBef>
                          <a:spcPts val="240"/>
                        </a:spcBef>
                      </a:pPr>
                      <a:endParaRPr sz="1400" dirty="0">
                        <a:latin typeface="Times New Roman"/>
                        <a:cs typeface="Times New Roman"/>
                      </a:endParaRPr>
                    </a:p>
                    <a:p>
                      <a:pPr marL="1028065">
                        <a:lnSpc>
                          <a:spcPct val="100000"/>
                        </a:lnSpc>
                        <a:spcBef>
                          <a:spcPts val="5"/>
                        </a:spcBef>
                      </a:pPr>
                      <a:r>
                        <a:rPr lang="en-IN" sz="1400" dirty="0">
                          <a:latin typeface="Arial MT"/>
                          <a:cs typeface="Arial MT"/>
                        </a:rPr>
                        <a:t>BAAI/bge-small-en-v1.5</a:t>
                      </a:r>
                      <a:endParaRPr sz="1400" dirty="0">
                        <a:latin typeface="Arial MT"/>
                        <a:cs typeface="Arial MT"/>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636854">
                <a:tc>
                  <a:txBody>
                    <a:bodyPr/>
                    <a:lstStyle/>
                    <a:p>
                      <a:pPr>
                        <a:lnSpc>
                          <a:spcPct val="100000"/>
                        </a:lnSpc>
                        <a:spcBef>
                          <a:spcPts val="245"/>
                        </a:spcBef>
                      </a:pPr>
                      <a:endParaRPr sz="1400" dirty="0">
                        <a:latin typeface="Times New Roman"/>
                        <a:cs typeface="Times New Roman"/>
                      </a:endParaRPr>
                    </a:p>
                    <a:p>
                      <a:pPr marL="91440">
                        <a:lnSpc>
                          <a:spcPct val="100000"/>
                        </a:lnSpc>
                      </a:pPr>
                      <a:r>
                        <a:rPr sz="1400" dirty="0">
                          <a:latin typeface="Arial MT"/>
                          <a:cs typeface="Arial MT"/>
                        </a:rPr>
                        <a:t>Vector</a:t>
                      </a:r>
                      <a:r>
                        <a:rPr sz="1400" spc="-30" dirty="0">
                          <a:latin typeface="Arial MT"/>
                          <a:cs typeface="Arial MT"/>
                        </a:rPr>
                        <a:t> </a:t>
                      </a:r>
                      <a:r>
                        <a:rPr sz="1400" spc="-10" dirty="0">
                          <a:latin typeface="Arial MT"/>
                          <a:cs typeface="Arial MT"/>
                        </a:rPr>
                        <a:t>Database</a:t>
                      </a:r>
                      <a:endParaRPr sz="1400" dirty="0">
                        <a:latin typeface="Arial MT"/>
                        <a:cs typeface="Arial MT"/>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spcBef>
                          <a:spcPts val="245"/>
                        </a:spcBef>
                      </a:pPr>
                      <a:r>
                        <a:rPr lang="en-IN" sz="1400" dirty="0">
                          <a:latin typeface="Arial MT"/>
                          <a:cs typeface="Arial MT"/>
                        </a:rPr>
                        <a:t>                        </a:t>
                      </a:r>
                    </a:p>
                    <a:p>
                      <a:pPr>
                        <a:lnSpc>
                          <a:spcPct val="100000"/>
                        </a:lnSpc>
                        <a:spcBef>
                          <a:spcPts val="245"/>
                        </a:spcBef>
                      </a:pPr>
                      <a:r>
                        <a:rPr lang="en-IN" sz="1400" dirty="0">
                          <a:latin typeface="Arial MT"/>
                          <a:cs typeface="Arial MT"/>
                        </a:rPr>
                        <a:t>                          </a:t>
                      </a:r>
                      <a:r>
                        <a:rPr lang="en-IN" sz="1400" dirty="0" err="1">
                          <a:latin typeface="Arial MT"/>
                          <a:cs typeface="Arial MT"/>
                        </a:rPr>
                        <a:t>Qdrant</a:t>
                      </a:r>
                      <a:endParaRPr sz="1400" dirty="0">
                        <a:latin typeface="Arial MT"/>
                        <a:cs typeface="Arial MT"/>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636854">
                <a:tc>
                  <a:txBody>
                    <a:bodyPr/>
                    <a:lstStyle/>
                    <a:p>
                      <a:pPr>
                        <a:lnSpc>
                          <a:spcPct val="100000"/>
                        </a:lnSpc>
                        <a:spcBef>
                          <a:spcPts val="245"/>
                        </a:spcBef>
                      </a:pPr>
                      <a:endParaRPr sz="1400" dirty="0">
                        <a:latin typeface="Times New Roman"/>
                        <a:cs typeface="Times New Roman"/>
                      </a:endParaRPr>
                    </a:p>
                    <a:p>
                      <a:pPr marL="91440">
                        <a:lnSpc>
                          <a:spcPct val="100000"/>
                        </a:lnSpc>
                      </a:pPr>
                      <a:r>
                        <a:rPr sz="1400" dirty="0">
                          <a:latin typeface="Arial MT"/>
                          <a:cs typeface="Arial MT"/>
                        </a:rPr>
                        <a:t>Operating</a:t>
                      </a:r>
                      <a:r>
                        <a:rPr sz="1400" spc="-80" dirty="0">
                          <a:latin typeface="Arial MT"/>
                          <a:cs typeface="Arial MT"/>
                        </a:rPr>
                        <a:t> </a:t>
                      </a:r>
                      <a:r>
                        <a:rPr sz="1400" spc="-10" dirty="0">
                          <a:latin typeface="Arial MT"/>
                          <a:cs typeface="Arial MT"/>
                        </a:rPr>
                        <a:t>System</a:t>
                      </a:r>
                      <a:endParaRPr sz="1400" dirty="0">
                        <a:latin typeface="Arial MT"/>
                        <a:cs typeface="Arial MT"/>
                      </a:endParaRPr>
                    </a:p>
                  </a:txBody>
                  <a:tcPr marL="0" marR="0" marT="31115"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a:lnSpc>
                          <a:spcPct val="100000"/>
                        </a:lnSpc>
                        <a:spcBef>
                          <a:spcPts val="245"/>
                        </a:spcBef>
                      </a:pPr>
                      <a:endParaRPr sz="1400" dirty="0">
                        <a:latin typeface="Times New Roman"/>
                        <a:cs typeface="Times New Roman"/>
                      </a:endParaRPr>
                    </a:p>
                    <a:p>
                      <a:pPr marR="1544955" algn="r">
                        <a:lnSpc>
                          <a:spcPct val="100000"/>
                        </a:lnSpc>
                      </a:pPr>
                      <a:r>
                        <a:rPr sz="1400" dirty="0">
                          <a:latin typeface="Arial MT"/>
                          <a:cs typeface="Arial MT"/>
                        </a:rPr>
                        <a:t>Windows</a:t>
                      </a:r>
                      <a:r>
                        <a:rPr sz="1400" spc="-30" dirty="0">
                          <a:latin typeface="Arial MT"/>
                          <a:cs typeface="Arial MT"/>
                        </a:rPr>
                        <a:t> </a:t>
                      </a:r>
                      <a:r>
                        <a:rPr lang="en-US" sz="1400" spc="-30" dirty="0">
                          <a:latin typeface="Arial MT"/>
                          <a:cs typeface="Arial MT"/>
                        </a:rPr>
                        <a:t>,</a:t>
                      </a:r>
                      <a:r>
                        <a:rPr lang="en-US" sz="1400" spc="-30" dirty="0" err="1">
                          <a:latin typeface="Arial MT"/>
                          <a:cs typeface="Arial MT"/>
                        </a:rPr>
                        <a:t>MAC,Linux</a:t>
                      </a:r>
                      <a:endParaRPr sz="1400" dirty="0">
                        <a:latin typeface="Arial MT"/>
                        <a:cs typeface="Arial MT"/>
                      </a:endParaRPr>
                    </a:p>
                  </a:txBody>
                  <a:tcPr marL="0" marR="0" marT="31115"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10006"/>
                  </a:ext>
                </a:extLst>
              </a:tr>
              <a:tr h="636854">
                <a:tc>
                  <a:txBody>
                    <a:bodyPr/>
                    <a:lstStyle/>
                    <a:p>
                      <a:pPr marL="91440">
                        <a:lnSpc>
                          <a:spcPct val="100000"/>
                        </a:lnSpc>
                      </a:pPr>
                      <a:endParaRPr lang="en-IN" sz="1400" dirty="0">
                        <a:latin typeface="Arial MT"/>
                        <a:cs typeface="Arial MT"/>
                      </a:endParaRPr>
                    </a:p>
                    <a:p>
                      <a:pPr marL="91440">
                        <a:lnSpc>
                          <a:spcPct val="100000"/>
                        </a:lnSpc>
                      </a:pPr>
                      <a:r>
                        <a:rPr lang="en-IN" sz="1400" dirty="0">
                          <a:latin typeface="Arial MT"/>
                          <a:cs typeface="Arial MT"/>
                        </a:rPr>
                        <a:t>Frontend </a:t>
                      </a:r>
                      <a:endParaRPr sz="1400" dirty="0">
                        <a:latin typeface="Arial MT"/>
                        <a:cs typeface="Arial MT"/>
                      </a:endParaRPr>
                    </a:p>
                  </a:txBody>
                  <a:tcPr marL="0" marR="0" marT="31115"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tc>
                  <a:txBody>
                    <a:bodyPr/>
                    <a:lstStyle/>
                    <a:p>
                      <a:pPr marR="1544955" algn="r">
                        <a:lnSpc>
                          <a:spcPct val="100000"/>
                        </a:lnSpc>
                      </a:pPr>
                      <a:endParaRPr lang="en-IN" sz="1400" dirty="0">
                        <a:latin typeface="Arial MT"/>
                        <a:cs typeface="Arial MT"/>
                      </a:endParaRPr>
                    </a:p>
                    <a:p>
                      <a:pPr marR="1544955" algn="r">
                        <a:lnSpc>
                          <a:spcPct val="100000"/>
                        </a:lnSpc>
                      </a:pPr>
                      <a:r>
                        <a:rPr lang="en-IN" sz="1400" dirty="0">
                          <a:latin typeface="Arial MT"/>
                          <a:cs typeface="Arial MT"/>
                        </a:rPr>
                        <a:t>React + Vite  </a:t>
                      </a:r>
                    </a:p>
                  </a:txBody>
                  <a:tcPr marL="0" marR="0" marT="31115"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2611908627"/>
                  </a:ext>
                </a:extLst>
              </a:tr>
              <a:tr h="636854">
                <a:tc>
                  <a:txBody>
                    <a:bodyPr/>
                    <a:lstStyle/>
                    <a:p>
                      <a:pPr marL="91440">
                        <a:lnSpc>
                          <a:spcPct val="100000"/>
                        </a:lnSpc>
                      </a:pPr>
                      <a:endParaRPr lang="en-IN" sz="1400" dirty="0">
                        <a:latin typeface="Arial MT"/>
                        <a:cs typeface="Arial MT"/>
                      </a:endParaRPr>
                    </a:p>
                    <a:p>
                      <a:pPr marL="91440">
                        <a:lnSpc>
                          <a:spcPct val="100000"/>
                        </a:lnSpc>
                      </a:pPr>
                      <a:r>
                        <a:rPr lang="en-IN" sz="1400" dirty="0">
                          <a:latin typeface="Arial MT"/>
                          <a:cs typeface="Arial MT"/>
                        </a:rPr>
                        <a:t>Document Database</a:t>
                      </a:r>
                      <a:endParaRPr sz="1400" dirty="0">
                        <a:latin typeface="Arial MT"/>
                        <a:cs typeface="Arial MT"/>
                      </a:endParaRPr>
                    </a:p>
                  </a:txBody>
                  <a:tcPr marL="0" marR="0" marT="31115"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4"/>
                    </a:solidFill>
                  </a:tcPr>
                </a:tc>
                <a:tc>
                  <a:txBody>
                    <a:bodyPr/>
                    <a:lstStyle/>
                    <a:p>
                      <a:pPr marR="1544955" algn="r">
                        <a:lnSpc>
                          <a:spcPct val="100000"/>
                        </a:lnSpc>
                      </a:pPr>
                      <a:endParaRPr lang="en-IN" sz="1400" dirty="0">
                        <a:latin typeface="Arial MT"/>
                        <a:cs typeface="Arial MT"/>
                      </a:endParaRPr>
                    </a:p>
                    <a:p>
                      <a:pPr marR="1544955" algn="r">
                        <a:lnSpc>
                          <a:spcPct val="100000"/>
                        </a:lnSpc>
                      </a:pPr>
                      <a:r>
                        <a:rPr lang="en-IN" sz="1400" dirty="0">
                          <a:latin typeface="Arial MT"/>
                          <a:cs typeface="Arial MT"/>
                        </a:rPr>
                        <a:t>MongoDB </a:t>
                      </a:r>
                    </a:p>
                  </a:txBody>
                  <a:tcPr marL="0" marR="0" marT="31115"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4"/>
                    </a:solidFill>
                  </a:tcPr>
                </a:tc>
                <a:extLst>
                  <a:ext uri="{0D108BD9-81ED-4DB2-BD59-A6C34878D82A}">
                    <a16:rowId xmlns:a16="http://schemas.microsoft.com/office/drawing/2014/main" val="2876099698"/>
                  </a:ext>
                </a:extLst>
              </a:tr>
            </a:tbl>
          </a:graphicData>
        </a:graphic>
      </p:graphicFrame>
      <p:pic>
        <p:nvPicPr>
          <p:cNvPr id="4" name="object 4" descr="https://images.openai.com/static-rsc-4/clMnl-rLgdDHiv3npnQjkTxmQhMGYMFjN31g8yAIbi5_IyOCaxEv9VjwGk8Nn3SZ1gIj3ESPGff6rDYeKUwg_6dbw6Dw-FTVVFcNN11NQyMhsjd5Dib6ppjr-L5hhCfbSDWrdd6gLWc0MiCVLMxQlqaGY3T2uXWCHUmEvM5uVQvdpi5yv9k1jfEs1PjaxVfS?purpose=fullsize"/>
          <p:cNvPicPr/>
          <p:nvPr/>
        </p:nvPicPr>
        <p:blipFill>
          <a:blip r:embed="rId2" cstate="print"/>
          <a:stretch>
            <a:fillRect/>
          </a:stretch>
        </p:blipFill>
        <p:spPr>
          <a:xfrm>
            <a:off x="5575490" y="1510313"/>
            <a:ext cx="485813" cy="539889"/>
          </a:xfrm>
          <a:prstGeom prst="rect">
            <a:avLst/>
          </a:prstGeom>
        </p:spPr>
      </p:pic>
      <p:pic>
        <p:nvPicPr>
          <p:cNvPr id="7" name="object 7" descr="https://images.openai.com/static-rsc-4/g8oUkUGToPARgGJ0pihODePpz7Hklc5SZ3nMxtQHOLVZFuC266FYewYM_QyERI11pmD-TQlpMjXtP6LZtjcAVaxKgTw9mNOtz8ZlDbH7rrC3L1ApT5RoFziLWgT0nYpdcPmAOTtWmRn01tUTL4e_99NSWuZ7ShXf4DAGpP6VYwduwyOjX8O5WDEYcYqUVGjX?purpose=fullsize"/>
          <p:cNvPicPr/>
          <p:nvPr/>
        </p:nvPicPr>
        <p:blipFill>
          <a:blip r:embed="rId3" cstate="print"/>
          <a:stretch>
            <a:fillRect/>
          </a:stretch>
        </p:blipFill>
        <p:spPr>
          <a:xfrm>
            <a:off x="5501577" y="3417410"/>
            <a:ext cx="539889" cy="539889"/>
          </a:xfrm>
          <a:prstGeom prst="rect">
            <a:avLst/>
          </a:prstGeom>
        </p:spPr>
      </p:pic>
      <p:pic>
        <p:nvPicPr>
          <p:cNvPr id="9" name="object 9" descr="Download Microsoft Windows logo in vector for free"/>
          <p:cNvPicPr/>
          <p:nvPr/>
        </p:nvPicPr>
        <p:blipFill>
          <a:blip r:embed="rId4" cstate="print"/>
          <a:stretch>
            <a:fillRect/>
          </a:stretch>
        </p:blipFill>
        <p:spPr>
          <a:xfrm>
            <a:off x="5459045" y="4734794"/>
            <a:ext cx="582421" cy="444322"/>
          </a:xfrm>
          <a:prstGeom prst="rect">
            <a:avLst/>
          </a:prstGeom>
        </p:spPr>
      </p:pic>
      <p:pic>
        <p:nvPicPr>
          <p:cNvPr id="10" name="Picture 9" descr="File:React-icon.svg - Wikimedia Commons">
            <a:extLst>
              <a:ext uri="{FF2B5EF4-FFF2-40B4-BE49-F238E27FC236}">
                <a16:creationId xmlns:a16="http://schemas.microsoft.com/office/drawing/2014/main" id="{00EC7403-24C6-5DE4-9DD7-603DAACFE6E6}"/>
              </a:ext>
            </a:extLst>
          </p:cNvPr>
          <p:cNvPicPr>
            <a:picLocks noChangeAspect="1"/>
          </p:cNvPicPr>
          <p:nvPr/>
        </p:nvPicPr>
        <p:blipFill>
          <a:blip r:embed="rId5"/>
          <a:stretch>
            <a:fillRect/>
          </a:stretch>
        </p:blipFill>
        <p:spPr>
          <a:xfrm>
            <a:off x="5501577" y="5344369"/>
            <a:ext cx="604103" cy="538968"/>
          </a:xfrm>
          <a:prstGeom prst="rect">
            <a:avLst/>
          </a:prstGeom>
        </p:spPr>
      </p:pic>
      <p:pic>
        <p:nvPicPr>
          <p:cNvPr id="11" name="Picture 10" descr="brand-resources - Qdrant">
            <a:extLst>
              <a:ext uri="{FF2B5EF4-FFF2-40B4-BE49-F238E27FC236}">
                <a16:creationId xmlns:a16="http://schemas.microsoft.com/office/drawing/2014/main" id="{969869DA-F053-99F3-36B0-85FD711205D6}"/>
              </a:ext>
            </a:extLst>
          </p:cNvPr>
          <p:cNvPicPr>
            <a:picLocks noChangeAspect="1"/>
          </p:cNvPicPr>
          <p:nvPr/>
        </p:nvPicPr>
        <p:blipFill>
          <a:blip r:embed="rId6"/>
          <a:stretch>
            <a:fillRect/>
          </a:stretch>
        </p:blipFill>
        <p:spPr>
          <a:xfrm flipV="1">
            <a:off x="5501577" y="4087978"/>
            <a:ext cx="467723" cy="539888"/>
          </a:xfrm>
          <a:prstGeom prst="rect">
            <a:avLst/>
          </a:prstGeom>
        </p:spPr>
      </p:pic>
      <p:pic>
        <p:nvPicPr>
          <p:cNvPr id="12" name="Picture 11" descr="Mongodb Logo PNG Vectors Free Download">
            <a:extLst>
              <a:ext uri="{FF2B5EF4-FFF2-40B4-BE49-F238E27FC236}">
                <a16:creationId xmlns:a16="http://schemas.microsoft.com/office/drawing/2014/main" id="{2978449F-136C-7630-7B95-698E7EE08337}"/>
              </a:ext>
            </a:extLst>
          </p:cNvPr>
          <p:cNvPicPr>
            <a:picLocks noChangeAspect="1"/>
          </p:cNvPicPr>
          <p:nvPr/>
        </p:nvPicPr>
        <p:blipFill>
          <a:blip r:embed="rId7"/>
          <a:stretch>
            <a:fillRect/>
          </a:stretch>
        </p:blipFill>
        <p:spPr>
          <a:xfrm>
            <a:off x="5502498" y="5956611"/>
            <a:ext cx="538968" cy="538968"/>
          </a:xfrm>
          <a:prstGeom prst="rect">
            <a:avLst/>
          </a:prstGeom>
        </p:spPr>
      </p:pic>
      <p:pic>
        <p:nvPicPr>
          <p:cNvPr id="6" name="Picture 5">
            <a:extLst>
              <a:ext uri="{FF2B5EF4-FFF2-40B4-BE49-F238E27FC236}">
                <a16:creationId xmlns:a16="http://schemas.microsoft.com/office/drawing/2014/main" id="{94FA25C1-45E5-60AE-25E0-D3022AA83222}"/>
              </a:ext>
            </a:extLst>
          </p:cNvPr>
          <p:cNvPicPr>
            <a:picLocks noChangeAspect="1"/>
          </p:cNvPicPr>
          <p:nvPr/>
        </p:nvPicPr>
        <p:blipFill>
          <a:blip r:embed="rId8"/>
          <a:stretch>
            <a:fillRect/>
          </a:stretch>
        </p:blipFill>
        <p:spPr>
          <a:xfrm>
            <a:off x="5560027" y="2791804"/>
            <a:ext cx="467723" cy="467723"/>
          </a:xfrm>
          <a:prstGeom prst="rect">
            <a:avLst/>
          </a:prstGeom>
        </p:spPr>
      </p:pic>
      <p:pic>
        <p:nvPicPr>
          <p:cNvPr id="8" name="Picture 7" descr="Langgraph Icon &amp; Logo (LobeHub) | Dashboard Icons &amp; Logos">
            <a:extLst>
              <a:ext uri="{FF2B5EF4-FFF2-40B4-BE49-F238E27FC236}">
                <a16:creationId xmlns:a16="http://schemas.microsoft.com/office/drawing/2014/main" id="{8B616B66-B150-70F6-26F7-BC6B56D8E44F}"/>
              </a:ext>
            </a:extLst>
          </p:cNvPr>
          <p:cNvPicPr>
            <a:picLocks noChangeAspect="1"/>
          </p:cNvPicPr>
          <p:nvPr/>
        </p:nvPicPr>
        <p:blipFill>
          <a:blip r:embed="rId9"/>
          <a:stretch>
            <a:fillRect/>
          </a:stretch>
        </p:blipFill>
        <p:spPr>
          <a:xfrm>
            <a:off x="5370861" y="2088609"/>
            <a:ext cx="645576" cy="6455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06045">
              <a:lnSpc>
                <a:spcPct val="100000"/>
              </a:lnSpc>
              <a:spcBef>
                <a:spcPts val="105"/>
              </a:spcBef>
            </a:pPr>
            <a:r>
              <a:rPr dirty="0"/>
              <a:t>ARCHITECTURE</a:t>
            </a:r>
            <a:r>
              <a:rPr spc="-85" dirty="0"/>
              <a:t> </a:t>
            </a:r>
            <a:r>
              <a:rPr spc="-10" dirty="0"/>
              <a:t>DIAGRAM</a:t>
            </a:r>
          </a:p>
        </p:txBody>
      </p:sp>
      <p:graphicFrame>
        <p:nvGraphicFramePr>
          <p:cNvPr id="3" name="object 3"/>
          <p:cNvGraphicFramePr>
            <a:graphicFrameLocks noGrp="1"/>
          </p:cNvGraphicFramePr>
          <p:nvPr/>
        </p:nvGraphicFramePr>
        <p:xfrm>
          <a:off x="9839706" y="6093459"/>
          <a:ext cx="1425575" cy="355600"/>
        </p:xfrm>
        <a:graphic>
          <a:graphicData uri="http://schemas.openxmlformats.org/drawingml/2006/table">
            <a:tbl>
              <a:tblPr firstRow="1" bandRow="1">
                <a:tableStyleId>{2D5ABB26-0587-4C30-8999-92F81FD0307C}</a:tableStyleId>
              </a:tblPr>
              <a:tblGrid>
                <a:gridCol w="1200785">
                  <a:extLst>
                    <a:ext uri="{9D8B030D-6E8A-4147-A177-3AD203B41FA5}">
                      <a16:colId xmlns:a16="http://schemas.microsoft.com/office/drawing/2014/main" val="20000"/>
                    </a:ext>
                  </a:extLst>
                </a:gridCol>
                <a:gridCol w="224790">
                  <a:extLst>
                    <a:ext uri="{9D8B030D-6E8A-4147-A177-3AD203B41FA5}">
                      <a16:colId xmlns:a16="http://schemas.microsoft.com/office/drawing/2014/main" val="20001"/>
                    </a:ext>
                  </a:extLst>
                </a:gridCol>
              </a:tblGrid>
              <a:tr h="355600">
                <a:tc>
                  <a:txBody>
                    <a:bodyPr/>
                    <a:lstStyle/>
                    <a:p>
                      <a:pPr>
                        <a:lnSpc>
                          <a:spcPct val="100000"/>
                        </a:lnSpc>
                      </a:pPr>
                      <a:endParaRPr sz="2200">
                        <a:latin typeface="Times New Roman"/>
                        <a:cs typeface="Times New Roman"/>
                      </a:endParaRPr>
                    </a:p>
                  </a:txBody>
                  <a:tcPr marL="0" marR="0" marT="0" marB="0">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FFFFFF"/>
                    </a:solidFill>
                  </a:tcPr>
                </a:tc>
                <a:tc>
                  <a:txBody>
                    <a:bodyPr/>
                    <a:lstStyle/>
                    <a:p>
                      <a:pPr>
                        <a:lnSpc>
                          <a:spcPct val="100000"/>
                        </a:lnSpc>
                      </a:pPr>
                      <a:endParaRPr sz="2200">
                        <a:latin typeface="Times New Roman"/>
                        <a:cs typeface="Times New Roman"/>
                      </a:endParaRPr>
                    </a:p>
                  </a:txBody>
                  <a:tcPr marL="0" marR="0" marT="0" marB="0">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tcPr>
                </a:tc>
                <a:extLst>
                  <a:ext uri="{0D108BD9-81ED-4DB2-BD59-A6C34878D82A}">
                    <a16:rowId xmlns:a16="http://schemas.microsoft.com/office/drawing/2014/main" val="10000"/>
                  </a:ext>
                </a:extLst>
              </a:tr>
            </a:tbl>
          </a:graphicData>
        </a:graphic>
      </p:graphicFrame>
      <p:pic>
        <p:nvPicPr>
          <p:cNvPr id="9" name="Picture 8">
            <a:extLst>
              <a:ext uri="{FF2B5EF4-FFF2-40B4-BE49-F238E27FC236}">
                <a16:creationId xmlns:a16="http://schemas.microsoft.com/office/drawing/2014/main" id="{34F98DC8-18BB-BA5E-6AD9-0338E6CC3735}"/>
              </a:ext>
            </a:extLst>
          </p:cNvPr>
          <p:cNvPicPr>
            <a:picLocks noChangeAspect="1"/>
          </p:cNvPicPr>
          <p:nvPr/>
        </p:nvPicPr>
        <p:blipFill>
          <a:blip r:embed="rId2"/>
          <a:stretch>
            <a:fillRect/>
          </a:stretch>
        </p:blipFill>
        <p:spPr>
          <a:xfrm>
            <a:off x="838200" y="775792"/>
            <a:ext cx="9477628" cy="5334000"/>
          </a:xfrm>
          <a:prstGeom prst="rect">
            <a:avLst/>
          </a:prstGeom>
        </p:spPr>
      </p:pic>
      <p:sp>
        <p:nvSpPr>
          <p:cNvPr id="11" name="Rectangle 10">
            <a:extLst>
              <a:ext uri="{FF2B5EF4-FFF2-40B4-BE49-F238E27FC236}">
                <a16:creationId xmlns:a16="http://schemas.microsoft.com/office/drawing/2014/main" id="{51FFC1DD-9CF9-155B-35ED-4806B7762D65}"/>
              </a:ext>
            </a:extLst>
          </p:cNvPr>
          <p:cNvSpPr/>
          <p:nvPr/>
        </p:nvSpPr>
        <p:spPr>
          <a:xfrm>
            <a:off x="961745" y="914400"/>
            <a:ext cx="9249055" cy="762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66547" rIns="0" bIns="0" rtlCol="0">
            <a:spAutoFit/>
          </a:bodyPr>
          <a:lstStyle/>
          <a:p>
            <a:pPr marL="192405">
              <a:lnSpc>
                <a:spcPct val="100000"/>
              </a:lnSpc>
              <a:spcBef>
                <a:spcPts val="100"/>
              </a:spcBef>
            </a:pPr>
            <a:r>
              <a:rPr dirty="0"/>
              <a:t>CLASS</a:t>
            </a:r>
            <a:r>
              <a:rPr spc="-10" dirty="0"/>
              <a:t> DIAGRAM</a:t>
            </a:r>
          </a:p>
        </p:txBody>
      </p:sp>
      <p:sp>
        <p:nvSpPr>
          <p:cNvPr id="7" name="Rectangle 6">
            <a:extLst>
              <a:ext uri="{FF2B5EF4-FFF2-40B4-BE49-F238E27FC236}">
                <a16:creationId xmlns:a16="http://schemas.microsoft.com/office/drawing/2014/main" id="{BD620648-4D57-6210-D2F4-91C51B459481}"/>
              </a:ext>
            </a:extLst>
          </p:cNvPr>
          <p:cNvSpPr/>
          <p:nvPr/>
        </p:nvSpPr>
        <p:spPr>
          <a:xfrm>
            <a:off x="1066800" y="990600"/>
            <a:ext cx="9372600" cy="762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A127B491-F4A2-AA4A-0A96-0C4E20889CE6}"/>
              </a:ext>
            </a:extLst>
          </p:cNvPr>
          <p:cNvPicPr>
            <a:picLocks noChangeAspect="1"/>
          </p:cNvPicPr>
          <p:nvPr/>
        </p:nvPicPr>
        <p:blipFill>
          <a:blip r:embed="rId2"/>
          <a:stretch>
            <a:fillRect/>
          </a:stretch>
        </p:blipFill>
        <p:spPr>
          <a:xfrm>
            <a:off x="1066800" y="765632"/>
            <a:ext cx="9906000" cy="594115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57403" rIns="0" bIns="0" rtlCol="0">
            <a:spAutoFit/>
          </a:bodyPr>
          <a:lstStyle/>
          <a:p>
            <a:pPr marL="311150">
              <a:lnSpc>
                <a:spcPct val="100000"/>
              </a:lnSpc>
              <a:spcBef>
                <a:spcPts val="100"/>
              </a:spcBef>
            </a:pPr>
            <a:r>
              <a:rPr dirty="0"/>
              <a:t>USE</a:t>
            </a:r>
            <a:r>
              <a:rPr spc="-30" dirty="0"/>
              <a:t> </a:t>
            </a:r>
            <a:r>
              <a:rPr dirty="0"/>
              <a:t>CASE</a:t>
            </a:r>
            <a:r>
              <a:rPr spc="-60" dirty="0"/>
              <a:t> </a:t>
            </a:r>
            <a:r>
              <a:rPr spc="-10" dirty="0"/>
              <a:t>DIAGRAM</a:t>
            </a:r>
          </a:p>
        </p:txBody>
      </p:sp>
      <p:sp>
        <p:nvSpPr>
          <p:cNvPr id="7" name="Rectangle 6">
            <a:extLst>
              <a:ext uri="{FF2B5EF4-FFF2-40B4-BE49-F238E27FC236}">
                <a16:creationId xmlns:a16="http://schemas.microsoft.com/office/drawing/2014/main" id="{0F20D3EE-9983-0AA2-AD31-AD9AD742A42A}"/>
              </a:ext>
            </a:extLst>
          </p:cNvPr>
          <p:cNvSpPr/>
          <p:nvPr/>
        </p:nvSpPr>
        <p:spPr>
          <a:xfrm>
            <a:off x="1066800" y="990600"/>
            <a:ext cx="9372600" cy="762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A55C4D77-5301-CA9D-4599-C51C93C1CA57}"/>
              </a:ext>
            </a:extLst>
          </p:cNvPr>
          <p:cNvPicPr>
            <a:picLocks noChangeAspect="1"/>
          </p:cNvPicPr>
          <p:nvPr/>
        </p:nvPicPr>
        <p:blipFill>
          <a:blip r:embed="rId2"/>
          <a:stretch>
            <a:fillRect/>
          </a:stretch>
        </p:blipFill>
        <p:spPr>
          <a:xfrm>
            <a:off x="1295400" y="685800"/>
            <a:ext cx="8915400" cy="5943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12700" rIns="0" bIns="0" rtlCol="0">
            <a:spAutoFit/>
          </a:bodyPr>
          <a:lstStyle/>
          <a:p>
            <a:pPr marL="274955">
              <a:lnSpc>
                <a:spcPct val="100000"/>
              </a:lnSpc>
              <a:spcBef>
                <a:spcPts val="100"/>
              </a:spcBef>
            </a:pPr>
            <a:r>
              <a:rPr dirty="0"/>
              <a:t>SEQUENCE</a:t>
            </a:r>
            <a:r>
              <a:rPr spc="-15" dirty="0"/>
              <a:t> </a:t>
            </a:r>
            <a:r>
              <a:rPr spc="-10" dirty="0"/>
              <a:t>DIAGRAM</a:t>
            </a:r>
          </a:p>
        </p:txBody>
      </p:sp>
      <p:sp>
        <p:nvSpPr>
          <p:cNvPr id="8" name="Rectangle 7">
            <a:extLst>
              <a:ext uri="{FF2B5EF4-FFF2-40B4-BE49-F238E27FC236}">
                <a16:creationId xmlns:a16="http://schemas.microsoft.com/office/drawing/2014/main" id="{93B66C11-4988-54A9-5BDD-83C984C7D6C9}"/>
              </a:ext>
            </a:extLst>
          </p:cNvPr>
          <p:cNvSpPr/>
          <p:nvPr/>
        </p:nvSpPr>
        <p:spPr>
          <a:xfrm>
            <a:off x="838200" y="796112"/>
            <a:ext cx="10515599" cy="5754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 name="Picture 9">
            <a:extLst>
              <a:ext uri="{FF2B5EF4-FFF2-40B4-BE49-F238E27FC236}">
                <a16:creationId xmlns:a16="http://schemas.microsoft.com/office/drawing/2014/main" id="{77E5B684-A862-A60B-AF26-B5EAB3F69857}"/>
              </a:ext>
            </a:extLst>
          </p:cNvPr>
          <p:cNvPicPr>
            <a:picLocks noChangeAspect="1"/>
          </p:cNvPicPr>
          <p:nvPr/>
        </p:nvPicPr>
        <p:blipFill>
          <a:blip r:embed="rId2"/>
          <a:stretch>
            <a:fillRect/>
          </a:stretch>
        </p:blipFill>
        <p:spPr>
          <a:xfrm>
            <a:off x="1219200" y="660400"/>
            <a:ext cx="9296400" cy="6197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06045">
              <a:lnSpc>
                <a:spcPct val="100000"/>
              </a:lnSpc>
              <a:spcBef>
                <a:spcPts val="105"/>
              </a:spcBef>
            </a:pPr>
            <a:r>
              <a:rPr spc="-10" dirty="0"/>
              <a:t>REFERENCES</a:t>
            </a:r>
          </a:p>
        </p:txBody>
      </p:sp>
      <p:sp>
        <p:nvSpPr>
          <p:cNvPr id="3" name="object 3"/>
          <p:cNvSpPr/>
          <p:nvPr/>
        </p:nvSpPr>
        <p:spPr>
          <a:xfrm>
            <a:off x="1295272" y="1699260"/>
            <a:ext cx="8708390" cy="10795"/>
          </a:xfrm>
          <a:custGeom>
            <a:avLst/>
            <a:gdLst/>
            <a:ahLst/>
            <a:cxnLst/>
            <a:rect l="l" t="t" r="r" b="b"/>
            <a:pathLst>
              <a:path w="8708390" h="10794">
                <a:moveTo>
                  <a:pt x="8708136" y="0"/>
                </a:moveTo>
                <a:lnTo>
                  <a:pt x="0" y="0"/>
                </a:lnTo>
                <a:lnTo>
                  <a:pt x="0" y="10667"/>
                </a:lnTo>
                <a:lnTo>
                  <a:pt x="8708136" y="10667"/>
                </a:lnTo>
                <a:lnTo>
                  <a:pt x="8708136" y="0"/>
                </a:lnTo>
                <a:close/>
              </a:path>
            </a:pathLst>
          </a:custGeom>
          <a:solidFill>
            <a:srgbClr val="0000FF"/>
          </a:solidFill>
        </p:spPr>
        <p:txBody>
          <a:bodyPr wrap="square" lIns="0" tIns="0" rIns="0" bIns="0" rtlCol="0"/>
          <a:lstStyle/>
          <a:p>
            <a:endParaRPr/>
          </a:p>
        </p:txBody>
      </p:sp>
      <p:sp>
        <p:nvSpPr>
          <p:cNvPr id="4" name="object 4"/>
          <p:cNvSpPr/>
          <p:nvPr/>
        </p:nvSpPr>
        <p:spPr>
          <a:xfrm>
            <a:off x="1322705" y="2247900"/>
            <a:ext cx="8681085" cy="10795"/>
          </a:xfrm>
          <a:custGeom>
            <a:avLst/>
            <a:gdLst/>
            <a:ahLst/>
            <a:cxnLst/>
            <a:rect l="l" t="t" r="r" b="b"/>
            <a:pathLst>
              <a:path w="8681085" h="10794">
                <a:moveTo>
                  <a:pt x="8680704" y="0"/>
                </a:moveTo>
                <a:lnTo>
                  <a:pt x="0" y="0"/>
                </a:lnTo>
                <a:lnTo>
                  <a:pt x="0" y="10667"/>
                </a:lnTo>
                <a:lnTo>
                  <a:pt x="8680704" y="10667"/>
                </a:lnTo>
                <a:lnTo>
                  <a:pt x="8680704" y="0"/>
                </a:lnTo>
                <a:close/>
              </a:path>
            </a:pathLst>
          </a:custGeom>
          <a:solidFill>
            <a:srgbClr val="0000FF"/>
          </a:solidFill>
        </p:spPr>
        <p:txBody>
          <a:bodyPr wrap="square" lIns="0" tIns="0" rIns="0" bIns="0" rtlCol="0"/>
          <a:lstStyle/>
          <a:p>
            <a:endParaRPr/>
          </a:p>
        </p:txBody>
      </p:sp>
      <p:sp>
        <p:nvSpPr>
          <p:cNvPr id="5" name="object 5"/>
          <p:cNvSpPr/>
          <p:nvPr/>
        </p:nvSpPr>
        <p:spPr>
          <a:xfrm>
            <a:off x="1068184" y="2522220"/>
            <a:ext cx="8935720" cy="10795"/>
          </a:xfrm>
          <a:custGeom>
            <a:avLst/>
            <a:gdLst/>
            <a:ahLst/>
            <a:cxnLst/>
            <a:rect l="l" t="t" r="r" b="b"/>
            <a:pathLst>
              <a:path w="8935720" h="10794">
                <a:moveTo>
                  <a:pt x="8935224" y="0"/>
                </a:moveTo>
                <a:lnTo>
                  <a:pt x="0" y="0"/>
                </a:lnTo>
                <a:lnTo>
                  <a:pt x="0" y="10667"/>
                </a:lnTo>
                <a:lnTo>
                  <a:pt x="8935224" y="10667"/>
                </a:lnTo>
                <a:lnTo>
                  <a:pt x="8935224" y="0"/>
                </a:lnTo>
                <a:close/>
              </a:path>
            </a:pathLst>
          </a:custGeom>
          <a:solidFill>
            <a:srgbClr val="0000FF"/>
          </a:solidFill>
        </p:spPr>
        <p:txBody>
          <a:bodyPr wrap="square" lIns="0" tIns="0" rIns="0" bIns="0" rtlCol="0"/>
          <a:lstStyle/>
          <a:p>
            <a:endParaRPr/>
          </a:p>
        </p:txBody>
      </p:sp>
      <p:sp>
        <p:nvSpPr>
          <p:cNvPr id="6" name="object 6"/>
          <p:cNvSpPr/>
          <p:nvPr/>
        </p:nvSpPr>
        <p:spPr>
          <a:xfrm>
            <a:off x="1301369" y="3070860"/>
            <a:ext cx="8702040" cy="10795"/>
          </a:xfrm>
          <a:custGeom>
            <a:avLst/>
            <a:gdLst/>
            <a:ahLst/>
            <a:cxnLst/>
            <a:rect l="l" t="t" r="r" b="b"/>
            <a:pathLst>
              <a:path w="8702040" h="10794">
                <a:moveTo>
                  <a:pt x="8702040" y="0"/>
                </a:moveTo>
                <a:lnTo>
                  <a:pt x="0" y="0"/>
                </a:lnTo>
                <a:lnTo>
                  <a:pt x="0" y="10667"/>
                </a:lnTo>
                <a:lnTo>
                  <a:pt x="8702040" y="10667"/>
                </a:lnTo>
                <a:lnTo>
                  <a:pt x="8702040" y="0"/>
                </a:lnTo>
                <a:close/>
              </a:path>
            </a:pathLst>
          </a:custGeom>
          <a:solidFill>
            <a:srgbClr val="0000FF"/>
          </a:solidFill>
        </p:spPr>
        <p:txBody>
          <a:bodyPr wrap="square" lIns="0" tIns="0" rIns="0" bIns="0" rtlCol="0"/>
          <a:lstStyle/>
          <a:p>
            <a:endParaRPr/>
          </a:p>
        </p:txBody>
      </p:sp>
      <p:sp>
        <p:nvSpPr>
          <p:cNvPr id="7" name="object 7"/>
          <p:cNvSpPr/>
          <p:nvPr/>
        </p:nvSpPr>
        <p:spPr>
          <a:xfrm>
            <a:off x="1068184" y="3345179"/>
            <a:ext cx="8935720" cy="10795"/>
          </a:xfrm>
          <a:custGeom>
            <a:avLst/>
            <a:gdLst/>
            <a:ahLst/>
            <a:cxnLst/>
            <a:rect l="l" t="t" r="r" b="b"/>
            <a:pathLst>
              <a:path w="8935720" h="10795">
                <a:moveTo>
                  <a:pt x="8935224" y="0"/>
                </a:moveTo>
                <a:lnTo>
                  <a:pt x="0" y="0"/>
                </a:lnTo>
                <a:lnTo>
                  <a:pt x="0" y="10668"/>
                </a:lnTo>
                <a:lnTo>
                  <a:pt x="8935224" y="10668"/>
                </a:lnTo>
                <a:lnTo>
                  <a:pt x="8935224" y="0"/>
                </a:lnTo>
                <a:close/>
              </a:path>
            </a:pathLst>
          </a:custGeom>
          <a:solidFill>
            <a:srgbClr val="0000FF"/>
          </a:solidFill>
        </p:spPr>
        <p:txBody>
          <a:bodyPr wrap="square" lIns="0" tIns="0" rIns="0" bIns="0" rtlCol="0"/>
          <a:lstStyle/>
          <a:p>
            <a:endParaRPr/>
          </a:p>
        </p:txBody>
      </p:sp>
      <p:sp>
        <p:nvSpPr>
          <p:cNvPr id="8" name="object 8"/>
          <p:cNvSpPr/>
          <p:nvPr/>
        </p:nvSpPr>
        <p:spPr>
          <a:xfrm>
            <a:off x="1307464" y="3893820"/>
            <a:ext cx="8696325" cy="10795"/>
          </a:xfrm>
          <a:custGeom>
            <a:avLst/>
            <a:gdLst/>
            <a:ahLst/>
            <a:cxnLst/>
            <a:rect l="l" t="t" r="r" b="b"/>
            <a:pathLst>
              <a:path w="8696325" h="10795">
                <a:moveTo>
                  <a:pt x="8695943" y="0"/>
                </a:moveTo>
                <a:lnTo>
                  <a:pt x="0" y="0"/>
                </a:lnTo>
                <a:lnTo>
                  <a:pt x="0" y="10667"/>
                </a:lnTo>
                <a:lnTo>
                  <a:pt x="8695943" y="10667"/>
                </a:lnTo>
                <a:lnTo>
                  <a:pt x="8695943" y="0"/>
                </a:lnTo>
                <a:close/>
              </a:path>
            </a:pathLst>
          </a:custGeom>
          <a:solidFill>
            <a:srgbClr val="0000FF"/>
          </a:solidFill>
        </p:spPr>
        <p:txBody>
          <a:bodyPr wrap="square" lIns="0" tIns="0" rIns="0" bIns="0" rtlCol="0"/>
          <a:lstStyle/>
          <a:p>
            <a:endParaRPr/>
          </a:p>
        </p:txBody>
      </p:sp>
      <p:sp>
        <p:nvSpPr>
          <p:cNvPr id="9" name="object 9"/>
          <p:cNvSpPr/>
          <p:nvPr/>
        </p:nvSpPr>
        <p:spPr>
          <a:xfrm>
            <a:off x="1068184" y="4168140"/>
            <a:ext cx="8935720" cy="10795"/>
          </a:xfrm>
          <a:custGeom>
            <a:avLst/>
            <a:gdLst/>
            <a:ahLst/>
            <a:cxnLst/>
            <a:rect l="l" t="t" r="r" b="b"/>
            <a:pathLst>
              <a:path w="8935720" h="10795">
                <a:moveTo>
                  <a:pt x="8935224" y="0"/>
                </a:moveTo>
                <a:lnTo>
                  <a:pt x="0" y="0"/>
                </a:lnTo>
                <a:lnTo>
                  <a:pt x="0" y="10668"/>
                </a:lnTo>
                <a:lnTo>
                  <a:pt x="8935224" y="10668"/>
                </a:lnTo>
                <a:lnTo>
                  <a:pt x="8935224" y="0"/>
                </a:lnTo>
                <a:close/>
              </a:path>
            </a:pathLst>
          </a:custGeom>
          <a:solidFill>
            <a:srgbClr val="0000FF"/>
          </a:solidFill>
        </p:spPr>
        <p:txBody>
          <a:bodyPr wrap="square" lIns="0" tIns="0" rIns="0" bIns="0" rtlCol="0"/>
          <a:lstStyle/>
          <a:p>
            <a:endParaRPr/>
          </a:p>
        </p:txBody>
      </p:sp>
      <p:sp>
        <p:nvSpPr>
          <p:cNvPr id="10" name="object 10"/>
          <p:cNvSpPr/>
          <p:nvPr/>
        </p:nvSpPr>
        <p:spPr>
          <a:xfrm>
            <a:off x="1068184" y="4442459"/>
            <a:ext cx="8935720" cy="10795"/>
          </a:xfrm>
          <a:custGeom>
            <a:avLst/>
            <a:gdLst/>
            <a:ahLst/>
            <a:cxnLst/>
            <a:rect l="l" t="t" r="r" b="b"/>
            <a:pathLst>
              <a:path w="8935720" h="10795">
                <a:moveTo>
                  <a:pt x="8935224" y="0"/>
                </a:moveTo>
                <a:lnTo>
                  <a:pt x="0" y="0"/>
                </a:lnTo>
                <a:lnTo>
                  <a:pt x="0" y="10667"/>
                </a:lnTo>
                <a:lnTo>
                  <a:pt x="8935224" y="10667"/>
                </a:lnTo>
                <a:lnTo>
                  <a:pt x="8935224" y="0"/>
                </a:lnTo>
                <a:close/>
              </a:path>
            </a:pathLst>
          </a:custGeom>
          <a:solidFill>
            <a:srgbClr val="0000FF"/>
          </a:solidFill>
        </p:spPr>
        <p:txBody>
          <a:bodyPr wrap="square" lIns="0" tIns="0" rIns="0" bIns="0" rtlCol="0"/>
          <a:lstStyle/>
          <a:p>
            <a:endParaRPr/>
          </a:p>
        </p:txBody>
      </p:sp>
      <p:sp>
        <p:nvSpPr>
          <p:cNvPr id="11" name="object 11"/>
          <p:cNvSpPr txBox="1"/>
          <p:nvPr/>
        </p:nvSpPr>
        <p:spPr>
          <a:xfrm>
            <a:off x="1055624" y="885190"/>
            <a:ext cx="8963660" cy="3866515"/>
          </a:xfrm>
          <a:prstGeom prst="rect">
            <a:avLst/>
          </a:prstGeom>
        </p:spPr>
        <p:txBody>
          <a:bodyPr vert="horz" wrap="square" lIns="0" tIns="12700" rIns="0" bIns="0" rtlCol="0">
            <a:spAutoFit/>
          </a:bodyPr>
          <a:lstStyle/>
          <a:p>
            <a:pPr marL="12700" marR="7620" indent="-2540" algn="just">
              <a:lnSpc>
                <a:spcPct val="100000"/>
              </a:lnSpc>
              <a:spcBef>
                <a:spcPts val="100"/>
              </a:spcBef>
              <a:buClr>
                <a:srgbClr val="000000"/>
              </a:buClr>
              <a:buSzPct val="94444"/>
              <a:buAutoNum type="arabicPeriod"/>
              <a:tabLst>
                <a:tab pos="184785" algn="l"/>
              </a:tabLst>
            </a:pPr>
            <a:r>
              <a:rPr sz="1800" u="sng" spc="-90" dirty="0">
                <a:solidFill>
                  <a:srgbClr val="0000FF"/>
                </a:solidFill>
                <a:uFill>
                  <a:solidFill>
                    <a:srgbClr val="0000FF"/>
                  </a:solidFill>
                </a:uFill>
                <a:latin typeface="Times New Roman"/>
                <a:cs typeface="Times New Roman"/>
                <a:hlinkClick r:id="rId2"/>
              </a:rPr>
              <a:t>	Y</a:t>
            </a:r>
            <a:r>
              <a:rPr sz="1800" u="sng" spc="-90" dirty="0">
                <a:solidFill>
                  <a:srgbClr val="0000FF"/>
                </a:solidFill>
                <a:uFill>
                  <a:solidFill>
                    <a:srgbClr val="0000FF"/>
                  </a:solidFill>
                </a:uFill>
                <a:latin typeface="Times New Roman"/>
                <a:cs typeface="Times New Roman"/>
              </a:rPr>
              <a:t>.</a:t>
            </a:r>
            <a:r>
              <a:rPr sz="1800" u="sng" spc="-2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Zhao</a:t>
            </a:r>
            <a:r>
              <a:rPr sz="1800" u="sng" dirty="0">
                <a:solidFill>
                  <a:srgbClr val="0000FF"/>
                </a:solidFill>
                <a:uFill>
                  <a:solidFill>
                    <a:srgbClr val="0000FF"/>
                  </a:solidFill>
                </a:uFill>
                <a:latin typeface="Times New Roman"/>
                <a:cs typeface="Times New Roman"/>
              </a:rPr>
              <a:t>,</a:t>
            </a:r>
            <a:r>
              <a:rPr sz="1800" u="sng" spc="-2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Z</a:t>
            </a:r>
            <a:r>
              <a:rPr sz="1800" u="sng" dirty="0">
                <a:solidFill>
                  <a:srgbClr val="0000FF"/>
                </a:solidFill>
                <a:uFill>
                  <a:solidFill>
                    <a:srgbClr val="0000FF"/>
                  </a:solidFill>
                </a:uFill>
                <a:latin typeface="Times New Roman"/>
                <a:cs typeface="Times New Roman"/>
              </a:rPr>
              <a:t>.</a:t>
            </a:r>
            <a:r>
              <a:rPr sz="1800" u="sng" spc="-1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Liu</a:t>
            </a:r>
            <a:r>
              <a:rPr sz="1800" u="sng" dirty="0">
                <a:solidFill>
                  <a:srgbClr val="0000FF"/>
                </a:solidFill>
                <a:uFill>
                  <a:solidFill>
                    <a:srgbClr val="0000FF"/>
                  </a:solidFill>
                </a:uFill>
                <a:latin typeface="Times New Roman"/>
                <a:cs typeface="Times New Roman"/>
              </a:rPr>
              <a:t>,</a:t>
            </a:r>
            <a:r>
              <a:rPr sz="1800" u="sng" spc="-10" dirty="0">
                <a:solidFill>
                  <a:srgbClr val="0000FF"/>
                </a:solidFill>
                <a:uFill>
                  <a:solidFill>
                    <a:srgbClr val="0000FF"/>
                  </a:solidFill>
                </a:uFill>
                <a:latin typeface="Times New Roman"/>
                <a:cs typeface="Times New Roman"/>
              </a:rPr>
              <a:t> </a:t>
            </a:r>
            <a:r>
              <a:rPr sz="1800" u="sng" spc="-90" dirty="0">
                <a:solidFill>
                  <a:srgbClr val="0000FF"/>
                </a:solidFill>
                <a:uFill>
                  <a:solidFill>
                    <a:srgbClr val="0000FF"/>
                  </a:solidFill>
                </a:uFill>
                <a:latin typeface="Times New Roman"/>
                <a:cs typeface="Times New Roman"/>
                <a:hlinkClick r:id="rId2"/>
              </a:rPr>
              <a:t>Y</a:t>
            </a:r>
            <a:r>
              <a:rPr sz="1800" u="sng" spc="-90" dirty="0">
                <a:solidFill>
                  <a:srgbClr val="0000FF"/>
                </a:solidFill>
                <a:uFill>
                  <a:solidFill>
                    <a:srgbClr val="0000FF"/>
                  </a:solidFill>
                </a:uFill>
                <a:latin typeface="Times New Roman"/>
                <a:cs typeface="Times New Roman"/>
              </a:rPr>
              <a:t>.</a:t>
            </a:r>
            <a:r>
              <a:rPr sz="1800" u="sng" spc="-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Zheng</a:t>
            </a:r>
            <a:r>
              <a:rPr sz="1800" u="sng" dirty="0">
                <a:solidFill>
                  <a:srgbClr val="0000FF"/>
                </a:solidFill>
                <a:uFill>
                  <a:solidFill>
                    <a:srgbClr val="0000FF"/>
                  </a:solidFill>
                </a:uFill>
                <a:latin typeface="Times New Roman"/>
                <a:cs typeface="Times New Roman"/>
              </a:rPr>
              <a:t>,</a:t>
            </a:r>
            <a:r>
              <a:rPr sz="1800" u="sng" spc="-2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and</a:t>
            </a:r>
            <a:r>
              <a:rPr sz="1800" u="sng" spc="-25"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2"/>
              </a:rPr>
              <a:t>K.-</a:t>
            </a:r>
            <a:r>
              <a:rPr sz="1800" u="sng" spc="-110" dirty="0">
                <a:solidFill>
                  <a:srgbClr val="0000FF"/>
                </a:solidFill>
                <a:uFill>
                  <a:solidFill>
                    <a:srgbClr val="0000FF"/>
                  </a:solidFill>
                </a:uFill>
                <a:latin typeface="Times New Roman"/>
                <a:cs typeface="Times New Roman"/>
                <a:hlinkClick r:id="rId2"/>
              </a:rPr>
              <a:t>Y</a:t>
            </a:r>
            <a:r>
              <a:rPr sz="1800" u="sng" spc="-110" dirty="0">
                <a:solidFill>
                  <a:srgbClr val="0000FF"/>
                </a:solidFill>
                <a:uFill>
                  <a:solidFill>
                    <a:srgbClr val="0000FF"/>
                  </a:solidFill>
                </a:uFill>
                <a:latin typeface="Times New Roman"/>
                <a:cs typeface="Times New Roman"/>
              </a:rPr>
              <a:t>.</a:t>
            </a:r>
            <a:r>
              <a:rPr sz="1800" u="sng"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Lam</a:t>
            </a:r>
            <a:r>
              <a:rPr sz="1800" u="sng" dirty="0">
                <a:solidFill>
                  <a:srgbClr val="0000FF"/>
                </a:solidFill>
                <a:uFill>
                  <a:solidFill>
                    <a:srgbClr val="0000FF"/>
                  </a:solidFill>
                </a:uFill>
                <a:latin typeface="Times New Roman"/>
                <a:cs typeface="Times New Roman"/>
              </a:rPr>
              <a:t>,</a:t>
            </a:r>
            <a:r>
              <a:rPr sz="1800" u="sng" spc="-1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"Attribution</a:t>
            </a:r>
            <a:r>
              <a:rPr sz="1800" u="sng" spc="-35"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2"/>
              </a:rPr>
              <a:t>Techniques</a:t>
            </a:r>
            <a:r>
              <a:rPr sz="1800" u="sng" spc="-1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for</a:t>
            </a:r>
            <a:r>
              <a:rPr sz="1800" u="sng" spc="-1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Mitigating</a:t>
            </a:r>
            <a:r>
              <a:rPr sz="1800" u="sng" spc="-10"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2"/>
              </a:rPr>
              <a:t>Hallucinated</a:t>
            </a:r>
            <a:r>
              <a:rPr sz="1800" spc="-10" dirty="0">
                <a:solidFill>
                  <a:srgbClr val="0000FF"/>
                </a:solid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Information</a:t>
            </a:r>
            <a:r>
              <a:rPr sz="1800" u="sng" spc="-5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in</a:t>
            </a:r>
            <a:r>
              <a:rPr sz="1800" u="sng" spc="-3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RAG</a:t>
            </a:r>
            <a:r>
              <a:rPr sz="1800" u="sng" spc="-20"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2"/>
              </a:rPr>
              <a:t>Systems</a:t>
            </a:r>
            <a:r>
              <a:rPr sz="1800" u="sng" spc="-10" dirty="0">
                <a:solidFill>
                  <a:srgbClr val="0000FF"/>
                </a:solidFill>
                <a:uFill>
                  <a:solidFill>
                    <a:srgbClr val="0000FF"/>
                  </a:solidFill>
                </a:uFill>
                <a:latin typeface="Times New Roman"/>
                <a:cs typeface="Times New Roman"/>
              </a:rPr>
              <a:t>:</a:t>
            </a:r>
            <a:r>
              <a:rPr sz="1800" u="sng" spc="-12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A</a:t>
            </a:r>
            <a:r>
              <a:rPr sz="1800" u="sng" spc="-114"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2"/>
              </a:rPr>
              <a:t>Survey,"</a:t>
            </a:r>
            <a:r>
              <a:rPr sz="1800" u="sng" spc="-4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arXiv</a:t>
            </a:r>
            <a:r>
              <a:rPr sz="1800" u="sng" spc="-3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preprint</a:t>
            </a:r>
            <a:r>
              <a:rPr sz="1800" u="sng" spc="-3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arXiv:2601.19927</a:t>
            </a:r>
            <a:r>
              <a:rPr sz="1800" u="sng" dirty="0">
                <a:solidFill>
                  <a:srgbClr val="0000FF"/>
                </a:solidFill>
                <a:uFill>
                  <a:solidFill>
                    <a:srgbClr val="0000FF"/>
                  </a:solidFill>
                </a:uFill>
                <a:latin typeface="Times New Roman"/>
                <a:cs typeface="Times New Roman"/>
              </a:rPr>
              <a:t>,</a:t>
            </a:r>
            <a:r>
              <a:rPr sz="1800" u="sng" spc="-4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2"/>
              </a:rPr>
              <a:t>Jan</a:t>
            </a:r>
            <a:r>
              <a:rPr sz="1800" u="sng" dirty="0">
                <a:solidFill>
                  <a:srgbClr val="0000FF"/>
                </a:solidFill>
                <a:uFill>
                  <a:solidFill>
                    <a:srgbClr val="0000FF"/>
                  </a:solidFill>
                </a:uFill>
                <a:latin typeface="Times New Roman"/>
                <a:cs typeface="Times New Roman"/>
              </a:rPr>
              <a:t>.</a:t>
            </a:r>
            <a:r>
              <a:rPr sz="1800" u="sng" spc="-25"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2"/>
              </a:rPr>
              <a:t>2026.</a:t>
            </a:r>
            <a:endParaRPr sz="1800">
              <a:latin typeface="Times New Roman"/>
              <a:cs typeface="Times New Roman"/>
            </a:endParaRPr>
          </a:p>
          <a:p>
            <a:pPr marL="12700" marR="5715" indent="226695" algn="just">
              <a:lnSpc>
                <a:spcPct val="100000"/>
              </a:lnSpc>
              <a:buClr>
                <a:srgbClr val="000000"/>
              </a:buClr>
              <a:buSzPct val="94444"/>
              <a:buAutoNum type="arabicPeriod"/>
              <a:tabLst>
                <a:tab pos="239395" algn="l"/>
              </a:tabLst>
            </a:pPr>
            <a:r>
              <a:rPr sz="1800" dirty="0">
                <a:solidFill>
                  <a:srgbClr val="0000FF"/>
                </a:solidFill>
                <a:latin typeface="Times New Roman"/>
                <a:cs typeface="Times New Roman"/>
                <a:hlinkClick r:id="rId3"/>
              </a:rPr>
              <a:t>A.</a:t>
            </a:r>
            <a:r>
              <a:rPr sz="1800" spc="-114" dirty="0">
                <a:solidFill>
                  <a:srgbClr val="0000FF"/>
                </a:solidFill>
                <a:latin typeface="Times New Roman"/>
                <a:cs typeface="Times New Roman"/>
              </a:rPr>
              <a:t> </a:t>
            </a:r>
            <a:r>
              <a:rPr sz="1800" dirty="0">
                <a:solidFill>
                  <a:srgbClr val="0000FF"/>
                </a:solidFill>
                <a:latin typeface="Times New Roman"/>
                <a:cs typeface="Times New Roman"/>
                <a:hlinkClick r:id="rId3"/>
              </a:rPr>
              <a:t>Asai,</a:t>
            </a:r>
            <a:r>
              <a:rPr sz="1800" spc="-45" dirty="0">
                <a:solidFill>
                  <a:srgbClr val="0000FF"/>
                </a:solidFill>
                <a:latin typeface="Times New Roman"/>
                <a:cs typeface="Times New Roman"/>
              </a:rPr>
              <a:t> </a:t>
            </a:r>
            <a:r>
              <a:rPr sz="1800" dirty="0">
                <a:solidFill>
                  <a:srgbClr val="0000FF"/>
                </a:solidFill>
                <a:latin typeface="Times New Roman"/>
                <a:cs typeface="Times New Roman"/>
                <a:hlinkClick r:id="rId3"/>
              </a:rPr>
              <a:t>Z.</a:t>
            </a:r>
            <a:r>
              <a:rPr sz="1800" spc="-45" dirty="0">
                <a:solidFill>
                  <a:srgbClr val="0000FF"/>
                </a:solidFill>
                <a:latin typeface="Times New Roman"/>
                <a:cs typeface="Times New Roman"/>
              </a:rPr>
              <a:t> </a:t>
            </a:r>
            <a:r>
              <a:rPr sz="1800" dirty="0">
                <a:solidFill>
                  <a:srgbClr val="0000FF"/>
                </a:solidFill>
                <a:latin typeface="Times New Roman"/>
                <a:cs typeface="Times New Roman"/>
                <a:hlinkClick r:id="rId3"/>
              </a:rPr>
              <a:t>Wu,</a:t>
            </a:r>
            <a:r>
              <a:rPr sz="1800" spc="-40" dirty="0">
                <a:solidFill>
                  <a:srgbClr val="0000FF"/>
                </a:solidFill>
                <a:latin typeface="Times New Roman"/>
                <a:cs typeface="Times New Roman"/>
              </a:rPr>
              <a:t> </a:t>
            </a:r>
            <a:r>
              <a:rPr sz="1800" spc="-155" dirty="0">
                <a:solidFill>
                  <a:srgbClr val="0000FF"/>
                </a:solidFill>
                <a:latin typeface="Times New Roman"/>
                <a:cs typeface="Times New Roman"/>
                <a:hlinkClick r:id="rId3"/>
              </a:rPr>
              <a:t>Y.</a:t>
            </a:r>
            <a:r>
              <a:rPr sz="1800" spc="45" dirty="0">
                <a:solidFill>
                  <a:srgbClr val="0000FF"/>
                </a:solidFill>
                <a:latin typeface="Times New Roman"/>
                <a:cs typeface="Times New Roman"/>
              </a:rPr>
              <a:t> </a:t>
            </a:r>
            <a:r>
              <a:rPr sz="1800" spc="-25" dirty="0">
                <a:solidFill>
                  <a:srgbClr val="0000FF"/>
                </a:solidFill>
                <a:latin typeface="Times New Roman"/>
                <a:cs typeface="Times New Roman"/>
                <a:hlinkClick r:id="rId3"/>
              </a:rPr>
              <a:t>Wang,</a:t>
            </a:r>
            <a:r>
              <a:rPr sz="1800" spc="-45" dirty="0">
                <a:solidFill>
                  <a:srgbClr val="0000FF"/>
                </a:solidFill>
                <a:latin typeface="Times New Roman"/>
                <a:cs typeface="Times New Roman"/>
              </a:rPr>
              <a:t> </a:t>
            </a:r>
            <a:r>
              <a:rPr sz="1800" dirty="0">
                <a:solidFill>
                  <a:srgbClr val="0000FF"/>
                </a:solidFill>
                <a:latin typeface="Times New Roman"/>
                <a:cs typeface="Times New Roman"/>
                <a:hlinkClick r:id="rId3"/>
              </a:rPr>
              <a:t>A.</a:t>
            </a:r>
            <a:r>
              <a:rPr sz="1800" spc="-20" dirty="0">
                <a:solidFill>
                  <a:srgbClr val="0000FF"/>
                </a:solidFill>
                <a:latin typeface="Times New Roman"/>
                <a:cs typeface="Times New Roman"/>
              </a:rPr>
              <a:t> </a:t>
            </a:r>
            <a:r>
              <a:rPr sz="1800" dirty="0">
                <a:solidFill>
                  <a:srgbClr val="0000FF"/>
                </a:solidFill>
                <a:latin typeface="Times New Roman"/>
                <a:cs typeface="Times New Roman"/>
                <a:hlinkClick r:id="rId3"/>
              </a:rPr>
              <a:t>Sil,</a:t>
            </a:r>
            <a:r>
              <a:rPr sz="1800" spc="-25" dirty="0">
                <a:solidFill>
                  <a:srgbClr val="0000FF"/>
                </a:solidFill>
                <a:latin typeface="Times New Roman"/>
                <a:cs typeface="Times New Roman"/>
              </a:rPr>
              <a:t> </a:t>
            </a:r>
            <a:r>
              <a:rPr sz="1800" dirty="0">
                <a:solidFill>
                  <a:srgbClr val="0000FF"/>
                </a:solidFill>
                <a:latin typeface="Times New Roman"/>
                <a:cs typeface="Times New Roman"/>
                <a:hlinkClick r:id="rId3"/>
              </a:rPr>
              <a:t>and</a:t>
            </a:r>
            <a:r>
              <a:rPr sz="1800" spc="-25" dirty="0">
                <a:solidFill>
                  <a:srgbClr val="0000FF"/>
                </a:solidFill>
                <a:latin typeface="Times New Roman"/>
                <a:cs typeface="Times New Roman"/>
              </a:rPr>
              <a:t> </a:t>
            </a:r>
            <a:r>
              <a:rPr sz="1800" dirty="0">
                <a:solidFill>
                  <a:srgbClr val="0000FF"/>
                </a:solidFill>
                <a:latin typeface="Times New Roman"/>
                <a:cs typeface="Times New Roman"/>
                <a:hlinkClick r:id="rId3"/>
              </a:rPr>
              <a:t>H.</a:t>
            </a:r>
            <a:r>
              <a:rPr sz="1800" spc="-20" dirty="0">
                <a:solidFill>
                  <a:srgbClr val="0000FF"/>
                </a:solidFill>
                <a:latin typeface="Times New Roman"/>
                <a:cs typeface="Times New Roman"/>
              </a:rPr>
              <a:t> </a:t>
            </a:r>
            <a:r>
              <a:rPr sz="1800" dirty="0">
                <a:solidFill>
                  <a:srgbClr val="0000FF"/>
                </a:solidFill>
                <a:latin typeface="Times New Roman"/>
                <a:cs typeface="Times New Roman"/>
                <a:hlinkClick r:id="rId3"/>
              </a:rPr>
              <a:t>Hajishirzi,</a:t>
            </a:r>
            <a:r>
              <a:rPr sz="1800" spc="-15" dirty="0">
                <a:solidFill>
                  <a:srgbClr val="0000FF"/>
                </a:solidFill>
                <a:latin typeface="Times New Roman"/>
                <a:cs typeface="Times New Roman"/>
              </a:rPr>
              <a:t> </a:t>
            </a:r>
            <a:r>
              <a:rPr sz="1800" spc="-10" dirty="0">
                <a:solidFill>
                  <a:srgbClr val="0000FF"/>
                </a:solidFill>
                <a:latin typeface="Times New Roman"/>
                <a:cs typeface="Times New Roman"/>
                <a:hlinkClick r:id="rId3"/>
              </a:rPr>
              <a:t>"Self-</a:t>
            </a:r>
            <a:r>
              <a:rPr sz="1800" dirty="0">
                <a:solidFill>
                  <a:srgbClr val="0000FF"/>
                </a:solidFill>
                <a:latin typeface="Times New Roman"/>
                <a:cs typeface="Times New Roman"/>
                <a:hlinkClick r:id="rId3"/>
              </a:rPr>
              <a:t>RAG:</a:t>
            </a:r>
            <a:r>
              <a:rPr sz="1800" spc="-30" dirty="0">
                <a:solidFill>
                  <a:srgbClr val="0000FF"/>
                </a:solidFill>
                <a:latin typeface="Times New Roman"/>
                <a:cs typeface="Times New Roman"/>
              </a:rPr>
              <a:t> </a:t>
            </a:r>
            <a:r>
              <a:rPr sz="1800" dirty="0">
                <a:solidFill>
                  <a:srgbClr val="0000FF"/>
                </a:solidFill>
                <a:latin typeface="Times New Roman"/>
                <a:cs typeface="Times New Roman"/>
                <a:hlinkClick r:id="rId3"/>
              </a:rPr>
              <a:t>Learning</a:t>
            </a:r>
            <a:r>
              <a:rPr sz="1800" spc="-50" dirty="0">
                <a:solidFill>
                  <a:srgbClr val="0000FF"/>
                </a:solidFill>
                <a:latin typeface="Times New Roman"/>
                <a:cs typeface="Times New Roman"/>
              </a:rPr>
              <a:t> </a:t>
            </a:r>
            <a:r>
              <a:rPr sz="1800" dirty="0">
                <a:solidFill>
                  <a:srgbClr val="0000FF"/>
                </a:solidFill>
                <a:latin typeface="Times New Roman"/>
                <a:cs typeface="Times New Roman"/>
                <a:hlinkClick r:id="rId3"/>
              </a:rPr>
              <a:t>to</a:t>
            </a:r>
            <a:r>
              <a:rPr sz="1800" spc="-45" dirty="0">
                <a:solidFill>
                  <a:srgbClr val="0000FF"/>
                </a:solidFill>
                <a:latin typeface="Times New Roman"/>
                <a:cs typeface="Times New Roman"/>
              </a:rPr>
              <a:t> </a:t>
            </a:r>
            <a:r>
              <a:rPr sz="1800" spc="-10" dirty="0">
                <a:solidFill>
                  <a:srgbClr val="0000FF"/>
                </a:solidFill>
                <a:latin typeface="Times New Roman"/>
                <a:cs typeface="Times New Roman"/>
                <a:hlinkClick r:id="rId3"/>
              </a:rPr>
              <a:t>Retrieve,</a:t>
            </a:r>
            <a:r>
              <a:rPr sz="1800" spc="-40" dirty="0">
                <a:solidFill>
                  <a:srgbClr val="0000FF"/>
                </a:solidFill>
                <a:latin typeface="Times New Roman"/>
                <a:cs typeface="Times New Roman"/>
              </a:rPr>
              <a:t> </a:t>
            </a:r>
            <a:r>
              <a:rPr sz="1800" spc="-10" dirty="0">
                <a:solidFill>
                  <a:srgbClr val="0000FF"/>
                </a:solidFill>
                <a:latin typeface="Times New Roman"/>
                <a:cs typeface="Times New Roman"/>
                <a:hlinkClick r:id="rId3"/>
              </a:rPr>
              <a:t>Generate,</a:t>
            </a:r>
            <a:r>
              <a:rPr sz="1800" spc="-10" dirty="0">
                <a:solidFill>
                  <a:srgbClr val="0000FF"/>
                </a:solidFill>
                <a:latin typeface="Times New Roman"/>
                <a:cs typeface="Times New Roman"/>
              </a:rPr>
              <a:t> </a:t>
            </a:r>
            <a:r>
              <a:rPr sz="1800" u="sng" dirty="0">
                <a:solidFill>
                  <a:srgbClr val="0000FF"/>
                </a:solidFill>
                <a:uFill>
                  <a:solidFill>
                    <a:srgbClr val="0000FF"/>
                  </a:solidFill>
                </a:uFill>
                <a:latin typeface="Times New Roman"/>
                <a:cs typeface="Times New Roman"/>
                <a:hlinkClick r:id="rId3"/>
              </a:rPr>
              <a:t>and</a:t>
            </a:r>
            <a:r>
              <a:rPr sz="1800" u="sng" spc="-3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3"/>
              </a:rPr>
              <a:t>Critique</a:t>
            </a:r>
            <a:r>
              <a:rPr sz="1800" u="sng" spc="-3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3"/>
              </a:rPr>
              <a:t>through</a:t>
            </a:r>
            <a:r>
              <a:rPr sz="1800" u="sng" spc="-20"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3"/>
              </a:rPr>
              <a:t>Self-</a:t>
            </a:r>
            <a:r>
              <a:rPr sz="1800" u="sng" dirty="0">
                <a:solidFill>
                  <a:srgbClr val="0000FF"/>
                </a:solidFill>
                <a:uFill>
                  <a:solidFill>
                    <a:srgbClr val="0000FF"/>
                  </a:solidFill>
                </a:uFill>
                <a:latin typeface="Times New Roman"/>
                <a:cs typeface="Times New Roman"/>
                <a:hlinkClick r:id="rId3"/>
              </a:rPr>
              <a:t>Reflection,"</a:t>
            </a:r>
            <a:r>
              <a:rPr sz="1800" u="sng" spc="-5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3"/>
              </a:rPr>
              <a:t>arXiv</a:t>
            </a:r>
            <a:r>
              <a:rPr sz="1800" u="sng" spc="-3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3"/>
              </a:rPr>
              <a:t>preprint</a:t>
            </a:r>
            <a:r>
              <a:rPr sz="1800" u="sng" spc="-35"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3"/>
              </a:rPr>
              <a:t>arXiv:2310.11511</a:t>
            </a:r>
            <a:r>
              <a:rPr sz="1800" u="sng" spc="-10" dirty="0">
                <a:solidFill>
                  <a:srgbClr val="0000FF"/>
                </a:solidFill>
                <a:uFill>
                  <a:solidFill>
                    <a:srgbClr val="0000FF"/>
                  </a:solidFill>
                </a:uFill>
                <a:latin typeface="Times New Roman"/>
                <a:cs typeface="Times New Roman"/>
              </a:rPr>
              <a:t>,</a:t>
            </a:r>
            <a:r>
              <a:rPr sz="1800" u="sng" spc="-3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3"/>
              </a:rPr>
              <a:t>Oct</a:t>
            </a:r>
            <a:r>
              <a:rPr sz="1800" u="sng" dirty="0">
                <a:solidFill>
                  <a:srgbClr val="0000FF"/>
                </a:solidFill>
                <a:uFill>
                  <a:solidFill>
                    <a:srgbClr val="0000FF"/>
                  </a:solidFill>
                </a:uFill>
                <a:latin typeface="Times New Roman"/>
                <a:cs typeface="Times New Roman"/>
              </a:rPr>
              <a:t>.</a:t>
            </a:r>
            <a:r>
              <a:rPr sz="1800" u="sng" spc="-25"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3"/>
              </a:rPr>
              <a:t>2023.</a:t>
            </a:r>
            <a:endParaRPr sz="1800">
              <a:latin typeface="Times New Roman"/>
              <a:cs typeface="Times New Roman"/>
            </a:endParaRPr>
          </a:p>
          <a:p>
            <a:pPr marL="12700" marR="5715" indent="253365" algn="just">
              <a:lnSpc>
                <a:spcPct val="100000"/>
              </a:lnSpc>
              <a:buClr>
                <a:srgbClr val="000000"/>
              </a:buClr>
              <a:buSzPct val="94444"/>
              <a:buAutoNum type="arabicPeriod"/>
              <a:tabLst>
                <a:tab pos="266065" algn="l"/>
              </a:tabLst>
            </a:pPr>
            <a:r>
              <a:rPr sz="1800" dirty="0">
                <a:solidFill>
                  <a:srgbClr val="0000FF"/>
                </a:solidFill>
                <a:latin typeface="Times New Roman"/>
                <a:cs typeface="Times New Roman"/>
                <a:hlinkClick r:id="rId4"/>
              </a:rPr>
              <a:t>W.</a:t>
            </a:r>
            <a:r>
              <a:rPr sz="1800" spc="140" dirty="0">
                <a:solidFill>
                  <a:srgbClr val="0000FF"/>
                </a:solidFill>
                <a:latin typeface="Times New Roman"/>
                <a:cs typeface="Times New Roman"/>
              </a:rPr>
              <a:t> </a:t>
            </a:r>
            <a:r>
              <a:rPr sz="1800" dirty="0">
                <a:solidFill>
                  <a:srgbClr val="0000FF"/>
                </a:solidFill>
                <a:latin typeface="Times New Roman"/>
                <a:cs typeface="Times New Roman"/>
                <a:hlinkClick r:id="rId4"/>
              </a:rPr>
              <a:t>Shi,</a:t>
            </a:r>
            <a:r>
              <a:rPr sz="1800" spc="145" dirty="0">
                <a:solidFill>
                  <a:srgbClr val="0000FF"/>
                </a:solidFill>
                <a:latin typeface="Times New Roman"/>
                <a:cs typeface="Times New Roman"/>
              </a:rPr>
              <a:t> </a:t>
            </a:r>
            <a:r>
              <a:rPr sz="1800" dirty="0">
                <a:solidFill>
                  <a:srgbClr val="0000FF"/>
                </a:solidFill>
                <a:latin typeface="Times New Roman"/>
                <a:cs typeface="Times New Roman"/>
                <a:hlinkClick r:id="rId4"/>
              </a:rPr>
              <a:t>S.</a:t>
            </a:r>
            <a:r>
              <a:rPr sz="1800" spc="140" dirty="0">
                <a:solidFill>
                  <a:srgbClr val="0000FF"/>
                </a:solidFill>
                <a:latin typeface="Times New Roman"/>
                <a:cs typeface="Times New Roman"/>
              </a:rPr>
              <a:t> </a:t>
            </a:r>
            <a:r>
              <a:rPr sz="1800" dirty="0">
                <a:solidFill>
                  <a:srgbClr val="0000FF"/>
                </a:solidFill>
                <a:latin typeface="Times New Roman"/>
                <a:cs typeface="Times New Roman"/>
                <a:hlinkClick r:id="rId4"/>
              </a:rPr>
              <a:t>Min,</a:t>
            </a:r>
            <a:r>
              <a:rPr sz="1800" spc="145" dirty="0">
                <a:solidFill>
                  <a:srgbClr val="0000FF"/>
                </a:solidFill>
                <a:latin typeface="Times New Roman"/>
                <a:cs typeface="Times New Roman"/>
              </a:rPr>
              <a:t> </a:t>
            </a:r>
            <a:r>
              <a:rPr sz="1800" dirty="0">
                <a:solidFill>
                  <a:srgbClr val="0000FF"/>
                </a:solidFill>
                <a:latin typeface="Times New Roman"/>
                <a:cs typeface="Times New Roman"/>
                <a:hlinkClick r:id="rId4"/>
              </a:rPr>
              <a:t>M.</a:t>
            </a:r>
            <a:r>
              <a:rPr sz="1800" spc="140" dirty="0">
                <a:solidFill>
                  <a:srgbClr val="0000FF"/>
                </a:solidFill>
                <a:latin typeface="Times New Roman"/>
                <a:cs typeface="Times New Roman"/>
              </a:rPr>
              <a:t> </a:t>
            </a:r>
            <a:r>
              <a:rPr sz="1800" dirty="0">
                <a:solidFill>
                  <a:srgbClr val="0000FF"/>
                </a:solidFill>
                <a:latin typeface="Times New Roman"/>
                <a:cs typeface="Times New Roman"/>
                <a:hlinkClick r:id="rId4"/>
              </a:rPr>
              <a:t>Yasunaga,</a:t>
            </a:r>
            <a:r>
              <a:rPr sz="1800" spc="155" dirty="0">
                <a:solidFill>
                  <a:srgbClr val="0000FF"/>
                </a:solidFill>
                <a:latin typeface="Times New Roman"/>
                <a:cs typeface="Times New Roman"/>
              </a:rPr>
              <a:t> </a:t>
            </a:r>
            <a:r>
              <a:rPr sz="1800" dirty="0">
                <a:solidFill>
                  <a:srgbClr val="0000FF"/>
                </a:solidFill>
                <a:latin typeface="Times New Roman"/>
                <a:cs typeface="Times New Roman"/>
                <a:hlinkClick r:id="rId4"/>
              </a:rPr>
              <a:t>M.</a:t>
            </a:r>
            <a:r>
              <a:rPr sz="1800" spc="140" dirty="0">
                <a:solidFill>
                  <a:srgbClr val="0000FF"/>
                </a:solidFill>
                <a:latin typeface="Times New Roman"/>
                <a:cs typeface="Times New Roman"/>
              </a:rPr>
              <a:t> </a:t>
            </a:r>
            <a:r>
              <a:rPr sz="1800" dirty="0">
                <a:solidFill>
                  <a:srgbClr val="0000FF"/>
                </a:solidFill>
                <a:latin typeface="Times New Roman"/>
                <a:cs typeface="Times New Roman"/>
                <a:hlinkClick r:id="rId4"/>
              </a:rPr>
              <a:t>Seo,</a:t>
            </a:r>
            <a:r>
              <a:rPr sz="1800" spc="155" dirty="0">
                <a:solidFill>
                  <a:srgbClr val="0000FF"/>
                </a:solidFill>
                <a:latin typeface="Times New Roman"/>
                <a:cs typeface="Times New Roman"/>
              </a:rPr>
              <a:t> </a:t>
            </a:r>
            <a:r>
              <a:rPr sz="1800" dirty="0">
                <a:solidFill>
                  <a:srgbClr val="0000FF"/>
                </a:solidFill>
                <a:latin typeface="Times New Roman"/>
                <a:cs typeface="Times New Roman"/>
                <a:hlinkClick r:id="rId4"/>
              </a:rPr>
              <a:t>R.</a:t>
            </a:r>
            <a:r>
              <a:rPr sz="1800" spc="140" dirty="0">
                <a:solidFill>
                  <a:srgbClr val="0000FF"/>
                </a:solidFill>
                <a:latin typeface="Times New Roman"/>
                <a:cs typeface="Times New Roman"/>
              </a:rPr>
              <a:t> </a:t>
            </a:r>
            <a:r>
              <a:rPr sz="1800" dirty="0">
                <a:solidFill>
                  <a:srgbClr val="0000FF"/>
                </a:solidFill>
                <a:latin typeface="Times New Roman"/>
                <a:cs typeface="Times New Roman"/>
                <a:hlinkClick r:id="rId4"/>
              </a:rPr>
              <a:t>James,</a:t>
            </a:r>
            <a:r>
              <a:rPr sz="1800" spc="155" dirty="0">
                <a:solidFill>
                  <a:srgbClr val="0000FF"/>
                </a:solidFill>
                <a:latin typeface="Times New Roman"/>
                <a:cs typeface="Times New Roman"/>
              </a:rPr>
              <a:t> </a:t>
            </a:r>
            <a:r>
              <a:rPr sz="1800" dirty="0">
                <a:solidFill>
                  <a:srgbClr val="0000FF"/>
                </a:solidFill>
                <a:latin typeface="Times New Roman"/>
                <a:cs typeface="Times New Roman"/>
                <a:hlinkClick r:id="rId4"/>
              </a:rPr>
              <a:t>M.</a:t>
            </a:r>
            <a:r>
              <a:rPr sz="1800" spc="140" dirty="0">
                <a:solidFill>
                  <a:srgbClr val="0000FF"/>
                </a:solidFill>
                <a:latin typeface="Times New Roman"/>
                <a:cs typeface="Times New Roman"/>
              </a:rPr>
              <a:t> </a:t>
            </a:r>
            <a:r>
              <a:rPr sz="1800" dirty="0">
                <a:solidFill>
                  <a:srgbClr val="0000FF"/>
                </a:solidFill>
                <a:latin typeface="Times New Roman"/>
                <a:cs typeface="Times New Roman"/>
                <a:hlinkClick r:id="rId4"/>
              </a:rPr>
              <a:t>Lewis,</a:t>
            </a:r>
            <a:r>
              <a:rPr sz="1800" spc="135" dirty="0">
                <a:solidFill>
                  <a:srgbClr val="0000FF"/>
                </a:solidFill>
                <a:latin typeface="Times New Roman"/>
                <a:cs typeface="Times New Roman"/>
              </a:rPr>
              <a:t> </a:t>
            </a:r>
            <a:r>
              <a:rPr sz="1800" dirty="0">
                <a:solidFill>
                  <a:srgbClr val="0000FF"/>
                </a:solidFill>
                <a:latin typeface="Times New Roman"/>
                <a:cs typeface="Times New Roman"/>
                <a:hlinkClick r:id="rId4"/>
              </a:rPr>
              <a:t>L.</a:t>
            </a:r>
            <a:r>
              <a:rPr sz="1800" spc="145" dirty="0">
                <a:solidFill>
                  <a:srgbClr val="0000FF"/>
                </a:solidFill>
                <a:latin typeface="Times New Roman"/>
                <a:cs typeface="Times New Roman"/>
              </a:rPr>
              <a:t> </a:t>
            </a:r>
            <a:r>
              <a:rPr sz="1800" dirty="0">
                <a:solidFill>
                  <a:srgbClr val="0000FF"/>
                </a:solidFill>
                <a:latin typeface="Times New Roman"/>
                <a:cs typeface="Times New Roman"/>
                <a:hlinkClick r:id="rId4"/>
              </a:rPr>
              <a:t>Zettlemoyer,</a:t>
            </a:r>
            <a:r>
              <a:rPr sz="1800" spc="145" dirty="0">
                <a:solidFill>
                  <a:srgbClr val="0000FF"/>
                </a:solidFill>
                <a:latin typeface="Times New Roman"/>
                <a:cs typeface="Times New Roman"/>
              </a:rPr>
              <a:t> </a:t>
            </a:r>
            <a:r>
              <a:rPr sz="1800" dirty="0">
                <a:solidFill>
                  <a:srgbClr val="0000FF"/>
                </a:solidFill>
                <a:latin typeface="Times New Roman"/>
                <a:cs typeface="Times New Roman"/>
                <a:hlinkClick r:id="rId4"/>
              </a:rPr>
              <a:t>and</a:t>
            </a:r>
            <a:r>
              <a:rPr sz="1800" spc="145" dirty="0">
                <a:solidFill>
                  <a:srgbClr val="0000FF"/>
                </a:solidFill>
                <a:latin typeface="Times New Roman"/>
                <a:cs typeface="Times New Roman"/>
              </a:rPr>
              <a:t> </a:t>
            </a:r>
            <a:r>
              <a:rPr sz="1800" spc="-65" dirty="0">
                <a:solidFill>
                  <a:srgbClr val="0000FF"/>
                </a:solidFill>
                <a:latin typeface="Times New Roman"/>
                <a:cs typeface="Times New Roman"/>
                <a:hlinkClick r:id="rId4"/>
              </a:rPr>
              <a:t>W.-</a:t>
            </a:r>
            <a:r>
              <a:rPr sz="1800" dirty="0">
                <a:solidFill>
                  <a:srgbClr val="0000FF"/>
                </a:solidFill>
                <a:latin typeface="Times New Roman"/>
                <a:cs typeface="Times New Roman"/>
                <a:hlinkClick r:id="rId4"/>
              </a:rPr>
              <a:t>T.</a:t>
            </a:r>
            <a:r>
              <a:rPr sz="1800" spc="155" dirty="0">
                <a:solidFill>
                  <a:srgbClr val="0000FF"/>
                </a:solidFill>
                <a:latin typeface="Times New Roman"/>
                <a:cs typeface="Times New Roman"/>
              </a:rPr>
              <a:t> </a:t>
            </a:r>
            <a:r>
              <a:rPr sz="1800" spc="-20" dirty="0">
                <a:solidFill>
                  <a:srgbClr val="0000FF"/>
                </a:solidFill>
                <a:latin typeface="Times New Roman"/>
                <a:cs typeface="Times New Roman"/>
                <a:hlinkClick r:id="rId4"/>
              </a:rPr>
              <a:t>Yih,</a:t>
            </a:r>
            <a:r>
              <a:rPr sz="1800" spc="-20" dirty="0">
                <a:solidFill>
                  <a:srgbClr val="0000FF"/>
                </a:solidFill>
                <a:latin typeface="Times New Roman"/>
                <a:cs typeface="Times New Roman"/>
              </a:rPr>
              <a:t> </a:t>
            </a:r>
            <a:r>
              <a:rPr sz="1800" dirty="0">
                <a:solidFill>
                  <a:srgbClr val="0000FF"/>
                </a:solidFill>
                <a:latin typeface="Times New Roman"/>
                <a:cs typeface="Times New Roman"/>
                <a:hlinkClick r:id="rId4"/>
              </a:rPr>
              <a:t>"REPLUG:</a:t>
            </a:r>
            <a:r>
              <a:rPr sz="1800" spc="380" dirty="0">
                <a:solidFill>
                  <a:srgbClr val="0000FF"/>
                </a:solidFill>
                <a:latin typeface="Times New Roman"/>
                <a:cs typeface="Times New Roman"/>
              </a:rPr>
              <a:t>   </a:t>
            </a:r>
            <a:r>
              <a:rPr sz="1800" spc="-10" dirty="0">
                <a:solidFill>
                  <a:srgbClr val="0000FF"/>
                </a:solidFill>
                <a:latin typeface="Times New Roman"/>
                <a:cs typeface="Times New Roman"/>
                <a:hlinkClick r:id="rId4"/>
              </a:rPr>
              <a:t>Retrieval-</a:t>
            </a:r>
            <a:r>
              <a:rPr sz="1800" dirty="0">
                <a:solidFill>
                  <a:srgbClr val="0000FF"/>
                </a:solidFill>
                <a:latin typeface="Times New Roman"/>
                <a:cs typeface="Times New Roman"/>
                <a:hlinkClick r:id="rId4"/>
              </a:rPr>
              <a:t>Augmented</a:t>
            </a:r>
            <a:r>
              <a:rPr sz="1800" spc="380" dirty="0">
                <a:solidFill>
                  <a:srgbClr val="0000FF"/>
                </a:solidFill>
                <a:latin typeface="Times New Roman"/>
                <a:cs typeface="Times New Roman"/>
              </a:rPr>
              <a:t>   </a:t>
            </a:r>
            <a:r>
              <a:rPr sz="1800" spc="-10" dirty="0">
                <a:solidFill>
                  <a:srgbClr val="0000FF"/>
                </a:solidFill>
                <a:latin typeface="Times New Roman"/>
                <a:cs typeface="Times New Roman"/>
                <a:hlinkClick r:id="rId4"/>
              </a:rPr>
              <a:t>Black-</a:t>
            </a:r>
            <a:r>
              <a:rPr sz="1800" dirty="0">
                <a:solidFill>
                  <a:srgbClr val="0000FF"/>
                </a:solidFill>
                <a:latin typeface="Times New Roman"/>
                <a:cs typeface="Times New Roman"/>
                <a:hlinkClick r:id="rId4"/>
              </a:rPr>
              <a:t>Box</a:t>
            </a:r>
            <a:r>
              <a:rPr sz="1800" spc="380" dirty="0">
                <a:solidFill>
                  <a:srgbClr val="0000FF"/>
                </a:solidFill>
                <a:latin typeface="Times New Roman"/>
                <a:cs typeface="Times New Roman"/>
              </a:rPr>
              <a:t>   </a:t>
            </a:r>
            <a:r>
              <a:rPr sz="1800" dirty="0">
                <a:solidFill>
                  <a:srgbClr val="0000FF"/>
                </a:solidFill>
                <a:latin typeface="Times New Roman"/>
                <a:cs typeface="Times New Roman"/>
                <a:hlinkClick r:id="rId4"/>
              </a:rPr>
              <a:t>Language</a:t>
            </a:r>
            <a:r>
              <a:rPr sz="1800" spc="380" dirty="0">
                <a:solidFill>
                  <a:srgbClr val="0000FF"/>
                </a:solidFill>
                <a:latin typeface="Times New Roman"/>
                <a:cs typeface="Times New Roman"/>
              </a:rPr>
              <a:t>   </a:t>
            </a:r>
            <a:r>
              <a:rPr sz="1800" dirty="0">
                <a:solidFill>
                  <a:srgbClr val="0000FF"/>
                </a:solidFill>
                <a:latin typeface="Times New Roman"/>
                <a:cs typeface="Times New Roman"/>
                <a:hlinkClick r:id="rId4"/>
              </a:rPr>
              <a:t>Models,"</a:t>
            </a:r>
            <a:r>
              <a:rPr sz="1800" spc="380" dirty="0">
                <a:solidFill>
                  <a:srgbClr val="0000FF"/>
                </a:solidFill>
                <a:latin typeface="Times New Roman"/>
                <a:cs typeface="Times New Roman"/>
              </a:rPr>
              <a:t>   </a:t>
            </a:r>
            <a:r>
              <a:rPr sz="1800" i="1" dirty="0">
                <a:solidFill>
                  <a:srgbClr val="0000FF"/>
                </a:solidFill>
                <a:latin typeface="Times New Roman"/>
                <a:cs typeface="Times New Roman"/>
                <a:hlinkClick r:id="rId4"/>
              </a:rPr>
              <a:t>arXiv</a:t>
            </a:r>
            <a:r>
              <a:rPr sz="1800" i="1" spc="385" dirty="0">
                <a:solidFill>
                  <a:srgbClr val="0000FF"/>
                </a:solidFill>
                <a:latin typeface="Times New Roman"/>
                <a:cs typeface="Times New Roman"/>
              </a:rPr>
              <a:t>   </a:t>
            </a:r>
            <a:r>
              <a:rPr sz="1800" i="1" spc="-10" dirty="0">
                <a:solidFill>
                  <a:srgbClr val="0000FF"/>
                </a:solidFill>
                <a:latin typeface="Times New Roman"/>
                <a:cs typeface="Times New Roman"/>
                <a:hlinkClick r:id="rId4"/>
              </a:rPr>
              <a:t>preprint</a:t>
            </a:r>
            <a:r>
              <a:rPr sz="1800" i="1" spc="-10" dirty="0">
                <a:solidFill>
                  <a:srgbClr val="0000FF"/>
                </a:solidFill>
                <a:latin typeface="Times New Roman"/>
                <a:cs typeface="Times New Roman"/>
              </a:rPr>
              <a:t> </a:t>
            </a:r>
            <a:r>
              <a:rPr sz="1800" u="sng" dirty="0">
                <a:solidFill>
                  <a:srgbClr val="0000FF"/>
                </a:solidFill>
                <a:uFill>
                  <a:solidFill>
                    <a:srgbClr val="0000FF"/>
                  </a:solidFill>
                </a:uFill>
                <a:latin typeface="Times New Roman"/>
                <a:cs typeface="Times New Roman"/>
                <a:hlinkClick r:id="rId4"/>
              </a:rPr>
              <a:t>arXiv:2301.12652</a:t>
            </a:r>
            <a:r>
              <a:rPr sz="1800" u="sng" dirty="0">
                <a:solidFill>
                  <a:srgbClr val="0000FF"/>
                </a:solidFill>
                <a:uFill>
                  <a:solidFill>
                    <a:srgbClr val="0000FF"/>
                  </a:solidFill>
                </a:uFill>
                <a:latin typeface="Times New Roman"/>
                <a:cs typeface="Times New Roman"/>
              </a:rPr>
              <a:t>,</a:t>
            </a:r>
            <a:r>
              <a:rPr sz="1800" u="sng" spc="-5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4"/>
              </a:rPr>
              <a:t>Jan</a:t>
            </a:r>
            <a:r>
              <a:rPr sz="1800" u="sng" dirty="0">
                <a:solidFill>
                  <a:srgbClr val="0000FF"/>
                </a:solidFill>
                <a:uFill>
                  <a:solidFill>
                    <a:srgbClr val="0000FF"/>
                  </a:solidFill>
                </a:uFill>
                <a:latin typeface="Times New Roman"/>
                <a:cs typeface="Times New Roman"/>
              </a:rPr>
              <a:t>.</a:t>
            </a:r>
            <a:r>
              <a:rPr sz="1800" u="sng" spc="-30"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4"/>
              </a:rPr>
              <a:t>2023.</a:t>
            </a:r>
            <a:endParaRPr sz="1800">
              <a:latin typeface="Times New Roman"/>
              <a:cs typeface="Times New Roman"/>
            </a:endParaRPr>
          </a:p>
          <a:p>
            <a:pPr marL="12700" marR="6985" indent="233045" algn="just">
              <a:lnSpc>
                <a:spcPct val="100000"/>
              </a:lnSpc>
              <a:buClr>
                <a:srgbClr val="000000"/>
              </a:buClr>
              <a:buSzPct val="94444"/>
              <a:buAutoNum type="arabicPeriod"/>
              <a:tabLst>
                <a:tab pos="245745" algn="l"/>
              </a:tabLst>
            </a:pPr>
            <a:r>
              <a:rPr sz="1800" dirty="0">
                <a:solidFill>
                  <a:srgbClr val="0000FF"/>
                </a:solidFill>
                <a:latin typeface="Times New Roman"/>
                <a:cs typeface="Times New Roman"/>
                <a:hlinkClick r:id="rId5"/>
              </a:rPr>
              <a:t>L.</a:t>
            </a:r>
            <a:r>
              <a:rPr sz="1800" spc="-15" dirty="0">
                <a:solidFill>
                  <a:srgbClr val="0000FF"/>
                </a:solidFill>
                <a:latin typeface="Times New Roman"/>
                <a:cs typeface="Times New Roman"/>
              </a:rPr>
              <a:t> </a:t>
            </a:r>
            <a:r>
              <a:rPr sz="1800" dirty="0">
                <a:solidFill>
                  <a:srgbClr val="0000FF"/>
                </a:solidFill>
                <a:latin typeface="Times New Roman"/>
                <a:cs typeface="Times New Roman"/>
                <a:hlinkClick r:id="rId5"/>
              </a:rPr>
              <a:t>Gao,</a:t>
            </a:r>
            <a:r>
              <a:rPr sz="1800" spc="-10" dirty="0">
                <a:solidFill>
                  <a:srgbClr val="0000FF"/>
                </a:solidFill>
                <a:latin typeface="Times New Roman"/>
                <a:cs typeface="Times New Roman"/>
              </a:rPr>
              <a:t> </a:t>
            </a:r>
            <a:r>
              <a:rPr sz="1800" dirty="0">
                <a:solidFill>
                  <a:srgbClr val="0000FF"/>
                </a:solidFill>
                <a:latin typeface="Times New Roman"/>
                <a:cs typeface="Times New Roman"/>
                <a:hlinkClick r:id="rId5"/>
              </a:rPr>
              <a:t>Z.</a:t>
            </a:r>
            <a:r>
              <a:rPr sz="1800" spc="-5" dirty="0">
                <a:solidFill>
                  <a:srgbClr val="0000FF"/>
                </a:solidFill>
                <a:latin typeface="Times New Roman"/>
                <a:cs typeface="Times New Roman"/>
              </a:rPr>
              <a:t> </a:t>
            </a:r>
            <a:r>
              <a:rPr sz="1800" dirty="0">
                <a:solidFill>
                  <a:srgbClr val="0000FF"/>
                </a:solidFill>
                <a:latin typeface="Times New Roman"/>
                <a:cs typeface="Times New Roman"/>
                <a:hlinkClick r:id="rId5"/>
              </a:rPr>
              <a:t>Dai,</a:t>
            </a:r>
            <a:r>
              <a:rPr sz="1800" dirty="0">
                <a:solidFill>
                  <a:srgbClr val="0000FF"/>
                </a:solidFill>
                <a:latin typeface="Times New Roman"/>
                <a:cs typeface="Times New Roman"/>
              </a:rPr>
              <a:t> </a:t>
            </a:r>
            <a:r>
              <a:rPr sz="1800" spc="-85" dirty="0">
                <a:solidFill>
                  <a:srgbClr val="0000FF"/>
                </a:solidFill>
                <a:latin typeface="Times New Roman"/>
                <a:cs typeface="Times New Roman"/>
                <a:hlinkClick r:id="rId5"/>
              </a:rPr>
              <a:t>P.</a:t>
            </a:r>
            <a:r>
              <a:rPr sz="1800" spc="-10" dirty="0">
                <a:solidFill>
                  <a:srgbClr val="0000FF"/>
                </a:solidFill>
                <a:latin typeface="Times New Roman"/>
                <a:cs typeface="Times New Roman"/>
              </a:rPr>
              <a:t> </a:t>
            </a:r>
            <a:r>
              <a:rPr sz="1800" dirty="0">
                <a:solidFill>
                  <a:srgbClr val="0000FF"/>
                </a:solidFill>
                <a:latin typeface="Times New Roman"/>
                <a:cs typeface="Times New Roman"/>
                <a:hlinkClick r:id="rId5"/>
              </a:rPr>
              <a:t>Pasupat,</a:t>
            </a:r>
            <a:r>
              <a:rPr sz="1800" spc="5" dirty="0">
                <a:solidFill>
                  <a:srgbClr val="0000FF"/>
                </a:solidFill>
                <a:latin typeface="Times New Roman"/>
                <a:cs typeface="Times New Roman"/>
              </a:rPr>
              <a:t> </a:t>
            </a:r>
            <a:r>
              <a:rPr sz="1800" dirty="0">
                <a:solidFill>
                  <a:srgbClr val="0000FF"/>
                </a:solidFill>
                <a:latin typeface="Times New Roman"/>
                <a:cs typeface="Times New Roman"/>
                <a:hlinkClick r:id="rId5"/>
              </a:rPr>
              <a:t>A.</a:t>
            </a:r>
            <a:r>
              <a:rPr sz="1800" spc="-20" dirty="0">
                <a:solidFill>
                  <a:srgbClr val="0000FF"/>
                </a:solidFill>
                <a:latin typeface="Times New Roman"/>
                <a:cs typeface="Times New Roman"/>
              </a:rPr>
              <a:t> </a:t>
            </a:r>
            <a:r>
              <a:rPr sz="1800" dirty="0">
                <a:solidFill>
                  <a:srgbClr val="0000FF"/>
                </a:solidFill>
                <a:latin typeface="Times New Roman"/>
                <a:cs typeface="Times New Roman"/>
                <a:hlinkClick r:id="rId5"/>
              </a:rPr>
              <a:t>Chen,</a:t>
            </a:r>
            <a:r>
              <a:rPr sz="1800" spc="5" dirty="0">
                <a:solidFill>
                  <a:srgbClr val="0000FF"/>
                </a:solidFill>
                <a:latin typeface="Times New Roman"/>
                <a:cs typeface="Times New Roman"/>
              </a:rPr>
              <a:t> </a:t>
            </a:r>
            <a:r>
              <a:rPr sz="1800" dirty="0">
                <a:solidFill>
                  <a:srgbClr val="0000FF"/>
                </a:solidFill>
                <a:latin typeface="Times New Roman"/>
                <a:cs typeface="Times New Roman"/>
                <a:hlinkClick r:id="rId5"/>
              </a:rPr>
              <a:t>A.</a:t>
            </a:r>
            <a:r>
              <a:rPr sz="1800" spc="-10" dirty="0">
                <a:solidFill>
                  <a:srgbClr val="0000FF"/>
                </a:solidFill>
                <a:latin typeface="Times New Roman"/>
                <a:cs typeface="Times New Roman"/>
              </a:rPr>
              <a:t> </a:t>
            </a:r>
            <a:r>
              <a:rPr sz="1800" spc="-10" dirty="0">
                <a:solidFill>
                  <a:srgbClr val="0000FF"/>
                </a:solidFill>
                <a:latin typeface="Times New Roman"/>
                <a:cs typeface="Times New Roman"/>
                <a:hlinkClick r:id="rId5"/>
              </a:rPr>
              <a:t>T.</a:t>
            </a:r>
            <a:r>
              <a:rPr sz="1800" spc="-10" dirty="0">
                <a:solidFill>
                  <a:srgbClr val="0000FF"/>
                </a:solidFill>
                <a:latin typeface="Times New Roman"/>
                <a:cs typeface="Times New Roman"/>
              </a:rPr>
              <a:t> </a:t>
            </a:r>
            <a:r>
              <a:rPr sz="1800" spc="-10" dirty="0">
                <a:solidFill>
                  <a:srgbClr val="0000FF"/>
                </a:solidFill>
                <a:latin typeface="Times New Roman"/>
                <a:cs typeface="Times New Roman"/>
                <a:hlinkClick r:id="rId5"/>
              </a:rPr>
              <a:t>Chaganty,</a:t>
            </a:r>
            <a:r>
              <a:rPr sz="1800" spc="5" dirty="0">
                <a:solidFill>
                  <a:srgbClr val="0000FF"/>
                </a:solidFill>
                <a:latin typeface="Times New Roman"/>
                <a:cs typeface="Times New Roman"/>
              </a:rPr>
              <a:t> </a:t>
            </a:r>
            <a:r>
              <a:rPr sz="1800" spc="-114" dirty="0">
                <a:solidFill>
                  <a:srgbClr val="0000FF"/>
                </a:solidFill>
                <a:latin typeface="Times New Roman"/>
                <a:cs typeface="Times New Roman"/>
                <a:hlinkClick r:id="rId5"/>
              </a:rPr>
              <a:t>Y.</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5"/>
              </a:rPr>
              <a:t>Fan,</a:t>
            </a:r>
            <a:r>
              <a:rPr sz="1800" spc="-10" dirty="0">
                <a:solidFill>
                  <a:srgbClr val="0000FF"/>
                </a:solidFill>
                <a:latin typeface="Times New Roman"/>
                <a:cs typeface="Times New Roman"/>
              </a:rPr>
              <a:t> </a:t>
            </a:r>
            <a:r>
              <a:rPr sz="1800" spc="-100" dirty="0">
                <a:solidFill>
                  <a:srgbClr val="0000FF"/>
                </a:solidFill>
                <a:latin typeface="Times New Roman"/>
                <a:cs typeface="Times New Roman"/>
                <a:hlinkClick r:id="rId5"/>
              </a:rPr>
              <a:t>V.</a:t>
            </a:r>
            <a:r>
              <a:rPr sz="1800" spc="-10" dirty="0">
                <a:solidFill>
                  <a:srgbClr val="0000FF"/>
                </a:solidFill>
                <a:latin typeface="Times New Roman"/>
                <a:cs typeface="Times New Roman"/>
              </a:rPr>
              <a:t> </a:t>
            </a:r>
            <a:r>
              <a:rPr sz="1800" spc="-105" dirty="0">
                <a:solidFill>
                  <a:srgbClr val="0000FF"/>
                </a:solidFill>
                <a:latin typeface="Times New Roman"/>
                <a:cs typeface="Times New Roman"/>
                <a:hlinkClick r:id="rId5"/>
              </a:rPr>
              <a:t>Y.</a:t>
            </a:r>
            <a:r>
              <a:rPr sz="1800" spc="-5" dirty="0">
                <a:solidFill>
                  <a:srgbClr val="0000FF"/>
                </a:solidFill>
                <a:latin typeface="Times New Roman"/>
                <a:cs typeface="Times New Roman"/>
              </a:rPr>
              <a:t> </a:t>
            </a:r>
            <a:r>
              <a:rPr sz="1800" dirty="0">
                <a:solidFill>
                  <a:srgbClr val="0000FF"/>
                </a:solidFill>
                <a:latin typeface="Times New Roman"/>
                <a:cs typeface="Times New Roman"/>
                <a:hlinkClick r:id="rId5"/>
              </a:rPr>
              <a:t>Zhao,</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5"/>
              </a:rPr>
              <a:t>N.</a:t>
            </a:r>
            <a:r>
              <a:rPr sz="1800" spc="-10" dirty="0">
                <a:solidFill>
                  <a:srgbClr val="0000FF"/>
                </a:solidFill>
                <a:latin typeface="Times New Roman"/>
                <a:cs typeface="Times New Roman"/>
              </a:rPr>
              <a:t> </a:t>
            </a:r>
            <a:r>
              <a:rPr sz="1800" dirty="0">
                <a:solidFill>
                  <a:srgbClr val="0000FF"/>
                </a:solidFill>
                <a:latin typeface="Times New Roman"/>
                <a:cs typeface="Times New Roman"/>
                <a:hlinkClick r:id="rId5"/>
              </a:rPr>
              <a:t>Lao,</a:t>
            </a:r>
            <a:r>
              <a:rPr sz="1800" spc="5" dirty="0">
                <a:solidFill>
                  <a:srgbClr val="0000FF"/>
                </a:solidFill>
                <a:latin typeface="Times New Roman"/>
                <a:cs typeface="Times New Roman"/>
              </a:rPr>
              <a:t> </a:t>
            </a:r>
            <a:r>
              <a:rPr sz="1800" dirty="0">
                <a:solidFill>
                  <a:srgbClr val="0000FF"/>
                </a:solidFill>
                <a:latin typeface="Times New Roman"/>
                <a:cs typeface="Times New Roman"/>
                <a:hlinkClick r:id="rId5"/>
              </a:rPr>
              <a:t>H.</a:t>
            </a:r>
            <a:r>
              <a:rPr sz="1800" spc="-10" dirty="0">
                <a:solidFill>
                  <a:srgbClr val="0000FF"/>
                </a:solidFill>
                <a:latin typeface="Times New Roman"/>
                <a:cs typeface="Times New Roman"/>
              </a:rPr>
              <a:t> </a:t>
            </a:r>
            <a:r>
              <a:rPr sz="1800" dirty="0">
                <a:solidFill>
                  <a:srgbClr val="0000FF"/>
                </a:solidFill>
                <a:latin typeface="Times New Roman"/>
                <a:cs typeface="Times New Roman"/>
                <a:hlinkClick r:id="rId5"/>
              </a:rPr>
              <a:t>Lee,</a:t>
            </a:r>
            <a:r>
              <a:rPr sz="1800" spc="-5" dirty="0">
                <a:solidFill>
                  <a:srgbClr val="0000FF"/>
                </a:solidFill>
                <a:latin typeface="Times New Roman"/>
                <a:cs typeface="Times New Roman"/>
              </a:rPr>
              <a:t> </a:t>
            </a:r>
            <a:r>
              <a:rPr sz="1800" spc="-10" dirty="0">
                <a:solidFill>
                  <a:srgbClr val="0000FF"/>
                </a:solidFill>
                <a:latin typeface="Times New Roman"/>
                <a:cs typeface="Times New Roman"/>
                <a:hlinkClick r:id="rId5"/>
              </a:rPr>
              <a:t>D.-</a:t>
            </a:r>
            <a:r>
              <a:rPr sz="1800" spc="-25" dirty="0">
                <a:solidFill>
                  <a:srgbClr val="0000FF"/>
                </a:solidFill>
                <a:latin typeface="Times New Roman"/>
                <a:cs typeface="Times New Roman"/>
                <a:hlinkClick r:id="rId5"/>
              </a:rPr>
              <a:t>C.</a:t>
            </a:r>
            <a:r>
              <a:rPr sz="1800" spc="-25" dirty="0">
                <a:solidFill>
                  <a:srgbClr val="0000FF"/>
                </a:solidFill>
                <a:latin typeface="Times New Roman"/>
                <a:cs typeface="Times New Roman"/>
              </a:rPr>
              <a:t> </a:t>
            </a:r>
            <a:r>
              <a:rPr sz="1800" dirty="0">
                <a:solidFill>
                  <a:srgbClr val="0000FF"/>
                </a:solidFill>
                <a:latin typeface="Times New Roman"/>
                <a:cs typeface="Times New Roman"/>
                <a:hlinkClick r:id="rId5"/>
              </a:rPr>
              <a:t>Juan,</a:t>
            </a:r>
            <a:r>
              <a:rPr sz="1800" spc="415" dirty="0">
                <a:solidFill>
                  <a:srgbClr val="0000FF"/>
                </a:solidFill>
                <a:latin typeface="Times New Roman"/>
                <a:cs typeface="Times New Roman"/>
              </a:rPr>
              <a:t> </a:t>
            </a:r>
            <a:r>
              <a:rPr sz="1800" dirty="0">
                <a:solidFill>
                  <a:srgbClr val="0000FF"/>
                </a:solidFill>
                <a:latin typeface="Times New Roman"/>
                <a:cs typeface="Times New Roman"/>
                <a:hlinkClick r:id="rId5"/>
              </a:rPr>
              <a:t>and</a:t>
            </a:r>
            <a:r>
              <a:rPr sz="1800" spc="415" dirty="0">
                <a:solidFill>
                  <a:srgbClr val="0000FF"/>
                </a:solidFill>
                <a:latin typeface="Times New Roman"/>
                <a:cs typeface="Times New Roman"/>
              </a:rPr>
              <a:t> </a:t>
            </a:r>
            <a:r>
              <a:rPr sz="1800" dirty="0">
                <a:solidFill>
                  <a:srgbClr val="0000FF"/>
                </a:solidFill>
                <a:latin typeface="Times New Roman"/>
                <a:cs typeface="Times New Roman"/>
                <a:hlinkClick r:id="rId5"/>
              </a:rPr>
              <a:t>K.</a:t>
            </a:r>
            <a:r>
              <a:rPr sz="1800" spc="420" dirty="0">
                <a:solidFill>
                  <a:srgbClr val="0000FF"/>
                </a:solidFill>
                <a:latin typeface="Times New Roman"/>
                <a:cs typeface="Times New Roman"/>
              </a:rPr>
              <a:t> </a:t>
            </a:r>
            <a:r>
              <a:rPr sz="1800" dirty="0">
                <a:solidFill>
                  <a:srgbClr val="0000FF"/>
                </a:solidFill>
                <a:latin typeface="Times New Roman"/>
                <a:cs typeface="Times New Roman"/>
                <a:hlinkClick r:id="rId5"/>
              </a:rPr>
              <a:t>Guu,</a:t>
            </a:r>
            <a:r>
              <a:rPr sz="1800" spc="415" dirty="0">
                <a:solidFill>
                  <a:srgbClr val="0000FF"/>
                </a:solidFill>
                <a:latin typeface="Times New Roman"/>
                <a:cs typeface="Times New Roman"/>
              </a:rPr>
              <a:t> </a:t>
            </a:r>
            <a:r>
              <a:rPr sz="1800" dirty="0">
                <a:solidFill>
                  <a:srgbClr val="0000FF"/>
                </a:solidFill>
                <a:latin typeface="Times New Roman"/>
                <a:cs typeface="Times New Roman"/>
                <a:hlinkClick r:id="rId5"/>
              </a:rPr>
              <a:t>"RARR:</a:t>
            </a:r>
            <a:r>
              <a:rPr sz="1800" spc="420" dirty="0">
                <a:solidFill>
                  <a:srgbClr val="0000FF"/>
                </a:solidFill>
                <a:latin typeface="Times New Roman"/>
                <a:cs typeface="Times New Roman"/>
              </a:rPr>
              <a:t> </a:t>
            </a:r>
            <a:r>
              <a:rPr sz="1800" dirty="0">
                <a:solidFill>
                  <a:srgbClr val="0000FF"/>
                </a:solidFill>
                <a:latin typeface="Times New Roman"/>
                <a:cs typeface="Times New Roman"/>
                <a:hlinkClick r:id="rId5"/>
              </a:rPr>
              <a:t>Researching</a:t>
            </a:r>
            <a:r>
              <a:rPr sz="1800" spc="420" dirty="0">
                <a:solidFill>
                  <a:srgbClr val="0000FF"/>
                </a:solidFill>
                <a:latin typeface="Times New Roman"/>
                <a:cs typeface="Times New Roman"/>
              </a:rPr>
              <a:t> </a:t>
            </a:r>
            <a:r>
              <a:rPr sz="1800" dirty="0">
                <a:solidFill>
                  <a:srgbClr val="0000FF"/>
                </a:solidFill>
                <a:latin typeface="Times New Roman"/>
                <a:cs typeface="Times New Roman"/>
                <a:hlinkClick r:id="rId5"/>
              </a:rPr>
              <a:t>and</a:t>
            </a:r>
            <a:r>
              <a:rPr sz="1800" spc="395" dirty="0">
                <a:solidFill>
                  <a:srgbClr val="0000FF"/>
                </a:solidFill>
                <a:latin typeface="Times New Roman"/>
                <a:cs typeface="Times New Roman"/>
              </a:rPr>
              <a:t> </a:t>
            </a:r>
            <a:r>
              <a:rPr sz="1800" dirty="0">
                <a:solidFill>
                  <a:srgbClr val="0000FF"/>
                </a:solidFill>
                <a:latin typeface="Times New Roman"/>
                <a:cs typeface="Times New Roman"/>
                <a:hlinkClick r:id="rId5"/>
              </a:rPr>
              <a:t>Revising</a:t>
            </a:r>
            <a:r>
              <a:rPr sz="1800" spc="415" dirty="0">
                <a:solidFill>
                  <a:srgbClr val="0000FF"/>
                </a:solidFill>
                <a:latin typeface="Times New Roman"/>
                <a:cs typeface="Times New Roman"/>
              </a:rPr>
              <a:t> </a:t>
            </a:r>
            <a:r>
              <a:rPr sz="1800" dirty="0">
                <a:solidFill>
                  <a:srgbClr val="0000FF"/>
                </a:solidFill>
                <a:latin typeface="Times New Roman"/>
                <a:cs typeface="Times New Roman"/>
                <a:hlinkClick r:id="rId5"/>
              </a:rPr>
              <a:t>What</a:t>
            </a:r>
            <a:r>
              <a:rPr sz="1800" spc="409" dirty="0">
                <a:solidFill>
                  <a:srgbClr val="0000FF"/>
                </a:solidFill>
                <a:latin typeface="Times New Roman"/>
                <a:cs typeface="Times New Roman"/>
              </a:rPr>
              <a:t> </a:t>
            </a:r>
            <a:r>
              <a:rPr sz="1800" dirty="0">
                <a:solidFill>
                  <a:srgbClr val="0000FF"/>
                </a:solidFill>
                <a:latin typeface="Times New Roman"/>
                <a:cs typeface="Times New Roman"/>
                <a:hlinkClick r:id="rId5"/>
              </a:rPr>
              <a:t>Language</a:t>
            </a:r>
            <a:r>
              <a:rPr sz="1800" spc="425" dirty="0">
                <a:solidFill>
                  <a:srgbClr val="0000FF"/>
                </a:solidFill>
                <a:latin typeface="Times New Roman"/>
                <a:cs typeface="Times New Roman"/>
              </a:rPr>
              <a:t> </a:t>
            </a:r>
            <a:r>
              <a:rPr sz="1800" dirty="0">
                <a:solidFill>
                  <a:srgbClr val="0000FF"/>
                </a:solidFill>
                <a:latin typeface="Times New Roman"/>
                <a:cs typeface="Times New Roman"/>
                <a:hlinkClick r:id="rId5"/>
              </a:rPr>
              <a:t>Models</a:t>
            </a:r>
            <a:r>
              <a:rPr sz="1800" spc="409" dirty="0">
                <a:solidFill>
                  <a:srgbClr val="0000FF"/>
                </a:solidFill>
                <a:latin typeface="Times New Roman"/>
                <a:cs typeface="Times New Roman"/>
              </a:rPr>
              <a:t> </a:t>
            </a:r>
            <a:r>
              <a:rPr sz="1800" dirty="0">
                <a:solidFill>
                  <a:srgbClr val="0000FF"/>
                </a:solidFill>
                <a:latin typeface="Times New Roman"/>
                <a:cs typeface="Times New Roman"/>
                <a:hlinkClick r:id="rId5"/>
              </a:rPr>
              <a:t>Say,</a:t>
            </a:r>
            <a:r>
              <a:rPr sz="1800" spc="409" dirty="0">
                <a:solidFill>
                  <a:srgbClr val="0000FF"/>
                </a:solidFill>
                <a:latin typeface="Times New Roman"/>
                <a:cs typeface="Times New Roman"/>
              </a:rPr>
              <a:t> </a:t>
            </a:r>
            <a:r>
              <a:rPr sz="1800" spc="-10" dirty="0">
                <a:solidFill>
                  <a:srgbClr val="0000FF"/>
                </a:solidFill>
                <a:latin typeface="Times New Roman"/>
                <a:cs typeface="Times New Roman"/>
                <a:hlinkClick r:id="rId5"/>
              </a:rPr>
              <a:t>Using</a:t>
            </a:r>
            <a:r>
              <a:rPr sz="1800" spc="-10" dirty="0">
                <a:solidFill>
                  <a:srgbClr val="0000FF"/>
                </a:solidFill>
                <a:latin typeface="Times New Roman"/>
                <a:cs typeface="Times New Roman"/>
              </a:rPr>
              <a:t> </a:t>
            </a:r>
            <a:r>
              <a:rPr sz="1800" u="sng" dirty="0">
                <a:solidFill>
                  <a:srgbClr val="0000FF"/>
                </a:solidFill>
                <a:uFill>
                  <a:solidFill>
                    <a:srgbClr val="0000FF"/>
                  </a:solidFill>
                </a:uFill>
                <a:latin typeface="Times New Roman"/>
                <a:cs typeface="Times New Roman"/>
                <a:hlinkClick r:id="rId5"/>
              </a:rPr>
              <a:t>Language</a:t>
            </a:r>
            <a:r>
              <a:rPr sz="1800" u="sng" spc="-4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5"/>
              </a:rPr>
              <a:t>Models,"</a:t>
            </a:r>
            <a:r>
              <a:rPr sz="1800" u="sng" spc="-30" dirty="0">
                <a:solidFill>
                  <a:srgbClr val="0000FF"/>
                </a:solidFill>
                <a:uFill>
                  <a:solidFill>
                    <a:srgbClr val="0000FF"/>
                  </a:solidFill>
                </a:uFill>
                <a:latin typeface="Times New Roman"/>
                <a:cs typeface="Times New Roman"/>
              </a:rPr>
              <a:t> </a:t>
            </a:r>
            <a:r>
              <a:rPr sz="1800" i="1" u="sng" dirty="0">
                <a:solidFill>
                  <a:srgbClr val="0000FF"/>
                </a:solidFill>
                <a:uFill>
                  <a:solidFill>
                    <a:srgbClr val="0000FF"/>
                  </a:solidFill>
                </a:uFill>
                <a:latin typeface="Times New Roman"/>
                <a:cs typeface="Times New Roman"/>
                <a:hlinkClick r:id="rId5"/>
              </a:rPr>
              <a:t>arXiv</a:t>
            </a:r>
            <a:r>
              <a:rPr sz="1800" i="1" u="sng" spc="-45" dirty="0">
                <a:solidFill>
                  <a:srgbClr val="0000FF"/>
                </a:solidFill>
                <a:uFill>
                  <a:solidFill>
                    <a:srgbClr val="0000FF"/>
                  </a:solidFill>
                </a:uFill>
                <a:latin typeface="Times New Roman"/>
                <a:cs typeface="Times New Roman"/>
              </a:rPr>
              <a:t> </a:t>
            </a:r>
            <a:r>
              <a:rPr sz="1800" i="1" u="sng" spc="-10" dirty="0">
                <a:solidFill>
                  <a:srgbClr val="0000FF"/>
                </a:solidFill>
                <a:uFill>
                  <a:solidFill>
                    <a:srgbClr val="0000FF"/>
                  </a:solidFill>
                </a:uFill>
                <a:latin typeface="Times New Roman"/>
                <a:cs typeface="Times New Roman"/>
                <a:hlinkClick r:id="rId5"/>
              </a:rPr>
              <a:t>preprint</a:t>
            </a:r>
            <a:r>
              <a:rPr sz="1800" i="1" u="sng" spc="-20"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5"/>
              </a:rPr>
              <a:t>arXiv:2210.08726</a:t>
            </a:r>
            <a:r>
              <a:rPr sz="1800" u="sng" dirty="0">
                <a:solidFill>
                  <a:srgbClr val="0000FF"/>
                </a:solidFill>
                <a:uFill>
                  <a:solidFill>
                    <a:srgbClr val="0000FF"/>
                  </a:solidFill>
                </a:uFill>
                <a:latin typeface="Times New Roman"/>
                <a:cs typeface="Times New Roman"/>
              </a:rPr>
              <a:t>,</a:t>
            </a:r>
            <a:r>
              <a:rPr sz="1800" u="sng" spc="-45"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5"/>
              </a:rPr>
              <a:t>Oct</a:t>
            </a:r>
            <a:r>
              <a:rPr sz="1800" u="sng" dirty="0">
                <a:solidFill>
                  <a:srgbClr val="0000FF"/>
                </a:solidFill>
                <a:uFill>
                  <a:solidFill>
                    <a:srgbClr val="0000FF"/>
                  </a:solidFill>
                </a:uFill>
                <a:latin typeface="Times New Roman"/>
                <a:cs typeface="Times New Roman"/>
              </a:rPr>
              <a:t>.</a:t>
            </a:r>
            <a:r>
              <a:rPr sz="1800" u="sng" spc="-30"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5"/>
              </a:rPr>
              <a:t>2022.</a:t>
            </a:r>
            <a:endParaRPr sz="1800">
              <a:latin typeface="Times New Roman"/>
              <a:cs typeface="Times New Roman"/>
            </a:endParaRPr>
          </a:p>
          <a:p>
            <a:pPr marL="12700" marR="5080" indent="238760" algn="just">
              <a:lnSpc>
                <a:spcPct val="100000"/>
              </a:lnSpc>
              <a:spcBef>
                <a:spcPts val="5"/>
              </a:spcBef>
              <a:buClr>
                <a:srgbClr val="000000"/>
              </a:buClr>
              <a:buSzPct val="94444"/>
              <a:buAutoNum type="arabicPeriod"/>
              <a:tabLst>
                <a:tab pos="251460" algn="l"/>
              </a:tabLst>
            </a:pPr>
            <a:r>
              <a:rPr sz="1800" spc="-30" dirty="0">
                <a:solidFill>
                  <a:srgbClr val="0000FF"/>
                </a:solidFill>
                <a:latin typeface="Times New Roman"/>
                <a:cs typeface="Times New Roman"/>
                <a:hlinkClick r:id="rId6"/>
              </a:rPr>
              <a:t>P.</a:t>
            </a:r>
            <a:r>
              <a:rPr sz="1800" spc="10" dirty="0">
                <a:solidFill>
                  <a:srgbClr val="0000FF"/>
                </a:solidFill>
                <a:latin typeface="Times New Roman"/>
                <a:cs typeface="Times New Roman"/>
              </a:rPr>
              <a:t> </a:t>
            </a:r>
            <a:r>
              <a:rPr sz="1800" dirty="0">
                <a:solidFill>
                  <a:srgbClr val="0000FF"/>
                </a:solidFill>
                <a:latin typeface="Times New Roman"/>
                <a:cs typeface="Times New Roman"/>
                <a:hlinkClick r:id="rId6"/>
              </a:rPr>
              <a:t>Lewis,</a:t>
            </a:r>
            <a:r>
              <a:rPr sz="1800" spc="15" dirty="0">
                <a:solidFill>
                  <a:srgbClr val="0000FF"/>
                </a:solidFill>
                <a:latin typeface="Times New Roman"/>
                <a:cs typeface="Times New Roman"/>
              </a:rPr>
              <a:t> </a:t>
            </a:r>
            <a:r>
              <a:rPr sz="1800" dirty="0">
                <a:solidFill>
                  <a:srgbClr val="0000FF"/>
                </a:solidFill>
                <a:latin typeface="Times New Roman"/>
                <a:cs typeface="Times New Roman"/>
                <a:hlinkClick r:id="rId6"/>
              </a:rPr>
              <a:t>E.</a:t>
            </a:r>
            <a:r>
              <a:rPr sz="1800" spc="10" dirty="0">
                <a:solidFill>
                  <a:srgbClr val="0000FF"/>
                </a:solidFill>
                <a:latin typeface="Times New Roman"/>
                <a:cs typeface="Times New Roman"/>
              </a:rPr>
              <a:t> </a:t>
            </a:r>
            <a:r>
              <a:rPr sz="1800" dirty="0">
                <a:solidFill>
                  <a:srgbClr val="0000FF"/>
                </a:solidFill>
                <a:latin typeface="Times New Roman"/>
                <a:cs typeface="Times New Roman"/>
                <a:hlinkClick r:id="rId6"/>
              </a:rPr>
              <a:t>Perez,</a:t>
            </a:r>
            <a:r>
              <a:rPr sz="1800" spc="30" dirty="0">
                <a:solidFill>
                  <a:srgbClr val="0000FF"/>
                </a:solidFill>
                <a:latin typeface="Times New Roman"/>
                <a:cs typeface="Times New Roman"/>
              </a:rPr>
              <a:t> </a:t>
            </a:r>
            <a:r>
              <a:rPr sz="1800" dirty="0">
                <a:solidFill>
                  <a:srgbClr val="0000FF"/>
                </a:solidFill>
                <a:latin typeface="Times New Roman"/>
                <a:cs typeface="Times New Roman"/>
                <a:hlinkClick r:id="rId6"/>
              </a:rPr>
              <a:t>A.</a:t>
            </a:r>
            <a:r>
              <a:rPr sz="1800" spc="10" dirty="0">
                <a:solidFill>
                  <a:srgbClr val="0000FF"/>
                </a:solidFill>
                <a:latin typeface="Times New Roman"/>
                <a:cs typeface="Times New Roman"/>
              </a:rPr>
              <a:t> </a:t>
            </a:r>
            <a:r>
              <a:rPr sz="1800" dirty="0">
                <a:solidFill>
                  <a:srgbClr val="0000FF"/>
                </a:solidFill>
                <a:latin typeface="Times New Roman"/>
                <a:cs typeface="Times New Roman"/>
                <a:hlinkClick r:id="rId6"/>
              </a:rPr>
              <a:t>Piktus,</a:t>
            </a:r>
            <a:r>
              <a:rPr sz="1800" spc="5" dirty="0">
                <a:solidFill>
                  <a:srgbClr val="0000FF"/>
                </a:solidFill>
                <a:latin typeface="Times New Roman"/>
                <a:cs typeface="Times New Roman"/>
              </a:rPr>
              <a:t> </a:t>
            </a:r>
            <a:r>
              <a:rPr sz="1800" dirty="0">
                <a:solidFill>
                  <a:srgbClr val="0000FF"/>
                </a:solidFill>
                <a:latin typeface="Times New Roman"/>
                <a:cs typeface="Times New Roman"/>
                <a:hlinkClick r:id="rId6"/>
              </a:rPr>
              <a:t>F.</a:t>
            </a:r>
            <a:r>
              <a:rPr sz="1800" spc="25" dirty="0">
                <a:solidFill>
                  <a:srgbClr val="0000FF"/>
                </a:solidFill>
                <a:latin typeface="Times New Roman"/>
                <a:cs typeface="Times New Roman"/>
              </a:rPr>
              <a:t> </a:t>
            </a:r>
            <a:r>
              <a:rPr sz="1800" dirty="0">
                <a:solidFill>
                  <a:srgbClr val="0000FF"/>
                </a:solidFill>
                <a:latin typeface="Times New Roman"/>
                <a:cs typeface="Times New Roman"/>
                <a:hlinkClick r:id="rId6"/>
              </a:rPr>
              <a:t>Petroni,</a:t>
            </a:r>
            <a:r>
              <a:rPr sz="1800" spc="10" dirty="0">
                <a:solidFill>
                  <a:srgbClr val="0000FF"/>
                </a:solidFill>
                <a:latin typeface="Times New Roman"/>
                <a:cs typeface="Times New Roman"/>
              </a:rPr>
              <a:t> </a:t>
            </a:r>
            <a:r>
              <a:rPr sz="1800" spc="-55" dirty="0">
                <a:solidFill>
                  <a:srgbClr val="0000FF"/>
                </a:solidFill>
                <a:latin typeface="Times New Roman"/>
                <a:cs typeface="Times New Roman"/>
                <a:hlinkClick r:id="rId6"/>
              </a:rPr>
              <a:t>V.</a:t>
            </a:r>
            <a:r>
              <a:rPr sz="1800" spc="15" dirty="0">
                <a:solidFill>
                  <a:srgbClr val="0000FF"/>
                </a:solidFill>
                <a:latin typeface="Times New Roman"/>
                <a:cs typeface="Times New Roman"/>
              </a:rPr>
              <a:t> </a:t>
            </a:r>
            <a:r>
              <a:rPr sz="1800" dirty="0">
                <a:solidFill>
                  <a:srgbClr val="0000FF"/>
                </a:solidFill>
                <a:latin typeface="Times New Roman"/>
                <a:cs typeface="Times New Roman"/>
                <a:hlinkClick r:id="rId6"/>
              </a:rPr>
              <a:t>Karpukhin,</a:t>
            </a:r>
            <a:r>
              <a:rPr sz="1800" spc="15" dirty="0">
                <a:solidFill>
                  <a:srgbClr val="0000FF"/>
                </a:solidFill>
                <a:latin typeface="Times New Roman"/>
                <a:cs typeface="Times New Roman"/>
              </a:rPr>
              <a:t> </a:t>
            </a:r>
            <a:r>
              <a:rPr sz="1800" dirty="0">
                <a:solidFill>
                  <a:srgbClr val="0000FF"/>
                </a:solidFill>
                <a:latin typeface="Times New Roman"/>
                <a:cs typeface="Times New Roman"/>
                <a:hlinkClick r:id="rId6"/>
              </a:rPr>
              <a:t>N.</a:t>
            </a:r>
            <a:r>
              <a:rPr sz="1800" spc="20" dirty="0">
                <a:solidFill>
                  <a:srgbClr val="0000FF"/>
                </a:solidFill>
                <a:latin typeface="Times New Roman"/>
                <a:cs typeface="Times New Roman"/>
              </a:rPr>
              <a:t> </a:t>
            </a:r>
            <a:r>
              <a:rPr sz="1800" dirty="0">
                <a:solidFill>
                  <a:srgbClr val="0000FF"/>
                </a:solidFill>
                <a:latin typeface="Times New Roman"/>
                <a:cs typeface="Times New Roman"/>
                <a:hlinkClick r:id="rId6"/>
              </a:rPr>
              <a:t>Goyal,</a:t>
            </a:r>
            <a:r>
              <a:rPr sz="1800" spc="15" dirty="0">
                <a:solidFill>
                  <a:srgbClr val="0000FF"/>
                </a:solidFill>
                <a:latin typeface="Times New Roman"/>
                <a:cs typeface="Times New Roman"/>
              </a:rPr>
              <a:t> </a:t>
            </a:r>
            <a:r>
              <a:rPr sz="1800" dirty="0">
                <a:solidFill>
                  <a:srgbClr val="0000FF"/>
                </a:solidFill>
                <a:latin typeface="Times New Roman"/>
                <a:cs typeface="Times New Roman"/>
                <a:hlinkClick r:id="rId6"/>
              </a:rPr>
              <a:t>H.</a:t>
            </a:r>
            <a:r>
              <a:rPr sz="1800" spc="15" dirty="0">
                <a:solidFill>
                  <a:srgbClr val="0000FF"/>
                </a:solidFill>
                <a:latin typeface="Times New Roman"/>
                <a:cs typeface="Times New Roman"/>
              </a:rPr>
              <a:t> </a:t>
            </a:r>
            <a:r>
              <a:rPr sz="1800" dirty="0">
                <a:solidFill>
                  <a:srgbClr val="0000FF"/>
                </a:solidFill>
                <a:latin typeface="Times New Roman"/>
                <a:cs typeface="Times New Roman"/>
                <a:hlinkClick r:id="rId6"/>
              </a:rPr>
              <a:t>Küttler,</a:t>
            </a:r>
            <a:r>
              <a:rPr sz="1800" spc="15" dirty="0">
                <a:solidFill>
                  <a:srgbClr val="0000FF"/>
                </a:solidFill>
                <a:latin typeface="Times New Roman"/>
                <a:cs typeface="Times New Roman"/>
              </a:rPr>
              <a:t> </a:t>
            </a:r>
            <a:r>
              <a:rPr sz="1800" dirty="0">
                <a:solidFill>
                  <a:srgbClr val="0000FF"/>
                </a:solidFill>
                <a:latin typeface="Times New Roman"/>
                <a:cs typeface="Times New Roman"/>
                <a:hlinkClick r:id="rId6"/>
              </a:rPr>
              <a:t>M.</a:t>
            </a:r>
            <a:r>
              <a:rPr sz="1800" spc="20" dirty="0">
                <a:solidFill>
                  <a:srgbClr val="0000FF"/>
                </a:solidFill>
                <a:latin typeface="Times New Roman"/>
                <a:cs typeface="Times New Roman"/>
              </a:rPr>
              <a:t> </a:t>
            </a:r>
            <a:r>
              <a:rPr sz="1800" dirty="0">
                <a:solidFill>
                  <a:srgbClr val="0000FF"/>
                </a:solidFill>
                <a:latin typeface="Times New Roman"/>
                <a:cs typeface="Times New Roman"/>
                <a:hlinkClick r:id="rId6"/>
              </a:rPr>
              <a:t>Lewis,</a:t>
            </a:r>
            <a:r>
              <a:rPr sz="1800" spc="20" dirty="0">
                <a:solidFill>
                  <a:srgbClr val="0000FF"/>
                </a:solidFill>
                <a:latin typeface="Times New Roman"/>
                <a:cs typeface="Times New Roman"/>
              </a:rPr>
              <a:t> </a:t>
            </a:r>
            <a:r>
              <a:rPr sz="1800" spc="-70" dirty="0">
                <a:solidFill>
                  <a:srgbClr val="0000FF"/>
                </a:solidFill>
                <a:latin typeface="Times New Roman"/>
                <a:cs typeface="Times New Roman"/>
                <a:hlinkClick r:id="rId6"/>
              </a:rPr>
              <a:t>W.-</a:t>
            </a:r>
            <a:r>
              <a:rPr sz="1800" spc="-25" dirty="0">
                <a:solidFill>
                  <a:srgbClr val="0000FF"/>
                </a:solidFill>
                <a:latin typeface="Times New Roman"/>
                <a:cs typeface="Times New Roman"/>
                <a:hlinkClick r:id="rId6"/>
              </a:rPr>
              <a:t>T.</a:t>
            </a:r>
            <a:r>
              <a:rPr sz="1800" spc="-25" dirty="0">
                <a:solidFill>
                  <a:srgbClr val="0000FF"/>
                </a:solidFill>
                <a:latin typeface="Times New Roman"/>
                <a:cs typeface="Times New Roman"/>
              </a:rPr>
              <a:t> </a:t>
            </a:r>
            <a:r>
              <a:rPr sz="1800" dirty="0">
                <a:solidFill>
                  <a:srgbClr val="0000FF"/>
                </a:solidFill>
                <a:latin typeface="Times New Roman"/>
                <a:cs typeface="Times New Roman"/>
                <a:hlinkClick r:id="rId6"/>
              </a:rPr>
              <a:t>Yih,</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6"/>
              </a:rPr>
              <a:t>T.</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6"/>
              </a:rPr>
              <a:t>Rocktäschel,</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6"/>
              </a:rPr>
              <a:t>S.</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6"/>
              </a:rPr>
              <a:t>Riedel,</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6"/>
              </a:rPr>
              <a:t>and</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6"/>
              </a:rPr>
              <a:t>D.</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6"/>
              </a:rPr>
              <a:t>Kiela,</a:t>
            </a:r>
            <a:r>
              <a:rPr sz="1800" dirty="0">
                <a:solidFill>
                  <a:srgbClr val="0000FF"/>
                </a:solidFill>
                <a:latin typeface="Times New Roman"/>
                <a:cs typeface="Times New Roman"/>
              </a:rPr>
              <a:t> </a:t>
            </a:r>
            <a:r>
              <a:rPr sz="1800" spc="-10" dirty="0">
                <a:solidFill>
                  <a:srgbClr val="0000FF"/>
                </a:solidFill>
                <a:latin typeface="Times New Roman"/>
                <a:cs typeface="Times New Roman"/>
                <a:hlinkClick r:id="rId6"/>
              </a:rPr>
              <a:t>"Retrieval-</a:t>
            </a:r>
            <a:r>
              <a:rPr sz="1800" dirty="0">
                <a:solidFill>
                  <a:srgbClr val="0000FF"/>
                </a:solidFill>
                <a:latin typeface="Times New Roman"/>
                <a:cs typeface="Times New Roman"/>
                <a:hlinkClick r:id="rId6"/>
              </a:rPr>
              <a:t>Augmented</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6"/>
              </a:rPr>
              <a:t>Generation</a:t>
            </a:r>
            <a:r>
              <a:rPr sz="1800" dirty="0">
                <a:solidFill>
                  <a:srgbClr val="0000FF"/>
                </a:solidFill>
                <a:latin typeface="Times New Roman"/>
                <a:cs typeface="Times New Roman"/>
              </a:rPr>
              <a:t> </a:t>
            </a:r>
            <a:r>
              <a:rPr sz="1800" dirty="0">
                <a:solidFill>
                  <a:srgbClr val="0000FF"/>
                </a:solidFill>
                <a:latin typeface="Times New Roman"/>
                <a:cs typeface="Times New Roman"/>
                <a:hlinkClick r:id="rId6"/>
              </a:rPr>
              <a:t>for</a:t>
            </a:r>
            <a:r>
              <a:rPr sz="1800" dirty="0">
                <a:solidFill>
                  <a:srgbClr val="0000FF"/>
                </a:solidFill>
                <a:latin typeface="Times New Roman"/>
                <a:cs typeface="Times New Roman"/>
              </a:rPr>
              <a:t> </a:t>
            </a:r>
            <a:r>
              <a:rPr sz="1800" spc="-10" dirty="0">
                <a:solidFill>
                  <a:srgbClr val="0000FF"/>
                </a:solidFill>
                <a:latin typeface="Times New Roman"/>
                <a:cs typeface="Times New Roman"/>
                <a:hlinkClick r:id="rId6"/>
              </a:rPr>
              <a:t>Knowledge-</a:t>
            </a:r>
            <a:r>
              <a:rPr sz="1800" dirty="0">
                <a:solidFill>
                  <a:srgbClr val="0000FF"/>
                </a:solidFill>
                <a:latin typeface="Times New Roman"/>
                <a:cs typeface="Times New Roman"/>
                <a:hlinkClick r:id="rId6"/>
              </a:rPr>
              <a:t>Intensive</a:t>
            </a:r>
            <a:r>
              <a:rPr sz="1800" spc="75" dirty="0">
                <a:solidFill>
                  <a:srgbClr val="0000FF"/>
                </a:solidFill>
                <a:latin typeface="Times New Roman"/>
                <a:cs typeface="Times New Roman"/>
              </a:rPr>
              <a:t> </a:t>
            </a:r>
            <a:r>
              <a:rPr sz="1800" dirty="0">
                <a:solidFill>
                  <a:srgbClr val="0000FF"/>
                </a:solidFill>
                <a:latin typeface="Times New Roman"/>
                <a:cs typeface="Times New Roman"/>
                <a:hlinkClick r:id="rId6"/>
              </a:rPr>
              <a:t>NLP</a:t>
            </a:r>
            <a:r>
              <a:rPr sz="1800" spc="5" dirty="0">
                <a:solidFill>
                  <a:srgbClr val="0000FF"/>
                </a:solidFill>
                <a:latin typeface="Times New Roman"/>
                <a:cs typeface="Times New Roman"/>
              </a:rPr>
              <a:t> </a:t>
            </a:r>
            <a:r>
              <a:rPr sz="1800" dirty="0">
                <a:solidFill>
                  <a:srgbClr val="0000FF"/>
                </a:solidFill>
                <a:latin typeface="Times New Roman"/>
                <a:cs typeface="Times New Roman"/>
                <a:hlinkClick r:id="rId6"/>
              </a:rPr>
              <a:t>Tasks,"</a:t>
            </a:r>
            <a:r>
              <a:rPr sz="1800" spc="80" dirty="0">
                <a:solidFill>
                  <a:srgbClr val="0000FF"/>
                </a:solidFill>
                <a:latin typeface="Times New Roman"/>
                <a:cs typeface="Times New Roman"/>
              </a:rPr>
              <a:t> </a:t>
            </a:r>
            <a:r>
              <a:rPr sz="1800" dirty="0">
                <a:solidFill>
                  <a:srgbClr val="0000FF"/>
                </a:solidFill>
                <a:latin typeface="Times New Roman"/>
                <a:cs typeface="Times New Roman"/>
                <a:hlinkClick r:id="rId6"/>
              </a:rPr>
              <a:t>Advances</a:t>
            </a:r>
            <a:r>
              <a:rPr sz="1800" spc="75" dirty="0">
                <a:solidFill>
                  <a:srgbClr val="0000FF"/>
                </a:solidFill>
                <a:latin typeface="Times New Roman"/>
                <a:cs typeface="Times New Roman"/>
              </a:rPr>
              <a:t> </a:t>
            </a:r>
            <a:r>
              <a:rPr sz="1800" dirty="0">
                <a:solidFill>
                  <a:srgbClr val="0000FF"/>
                </a:solidFill>
                <a:latin typeface="Times New Roman"/>
                <a:cs typeface="Times New Roman"/>
                <a:hlinkClick r:id="rId6"/>
              </a:rPr>
              <a:t>in</a:t>
            </a:r>
            <a:r>
              <a:rPr sz="1800" spc="70" dirty="0">
                <a:solidFill>
                  <a:srgbClr val="0000FF"/>
                </a:solidFill>
                <a:latin typeface="Times New Roman"/>
                <a:cs typeface="Times New Roman"/>
              </a:rPr>
              <a:t> </a:t>
            </a:r>
            <a:r>
              <a:rPr sz="1800" dirty="0">
                <a:solidFill>
                  <a:srgbClr val="0000FF"/>
                </a:solidFill>
                <a:latin typeface="Times New Roman"/>
                <a:cs typeface="Times New Roman"/>
                <a:hlinkClick r:id="rId6"/>
              </a:rPr>
              <a:t>Neural</a:t>
            </a:r>
            <a:r>
              <a:rPr sz="1800" spc="70" dirty="0">
                <a:solidFill>
                  <a:srgbClr val="0000FF"/>
                </a:solidFill>
                <a:latin typeface="Times New Roman"/>
                <a:cs typeface="Times New Roman"/>
              </a:rPr>
              <a:t> </a:t>
            </a:r>
            <a:r>
              <a:rPr sz="1800" dirty="0">
                <a:solidFill>
                  <a:srgbClr val="0000FF"/>
                </a:solidFill>
                <a:latin typeface="Times New Roman"/>
                <a:cs typeface="Times New Roman"/>
                <a:hlinkClick r:id="rId6"/>
              </a:rPr>
              <a:t>Information</a:t>
            </a:r>
            <a:r>
              <a:rPr sz="1800" spc="90" dirty="0">
                <a:solidFill>
                  <a:srgbClr val="0000FF"/>
                </a:solidFill>
                <a:latin typeface="Times New Roman"/>
                <a:cs typeface="Times New Roman"/>
              </a:rPr>
              <a:t> </a:t>
            </a:r>
            <a:r>
              <a:rPr sz="1800" dirty="0">
                <a:solidFill>
                  <a:srgbClr val="0000FF"/>
                </a:solidFill>
                <a:latin typeface="Times New Roman"/>
                <a:cs typeface="Times New Roman"/>
                <a:hlinkClick r:id="rId6"/>
              </a:rPr>
              <a:t>Processing</a:t>
            </a:r>
            <a:r>
              <a:rPr sz="1800" spc="85" dirty="0">
                <a:solidFill>
                  <a:srgbClr val="0000FF"/>
                </a:solidFill>
                <a:latin typeface="Times New Roman"/>
                <a:cs typeface="Times New Roman"/>
              </a:rPr>
              <a:t> </a:t>
            </a:r>
            <a:r>
              <a:rPr sz="1800" dirty="0">
                <a:solidFill>
                  <a:srgbClr val="0000FF"/>
                </a:solidFill>
                <a:latin typeface="Times New Roman"/>
                <a:cs typeface="Times New Roman"/>
                <a:hlinkClick r:id="rId6"/>
              </a:rPr>
              <a:t>Systems</a:t>
            </a:r>
            <a:r>
              <a:rPr sz="1800" spc="75" dirty="0">
                <a:solidFill>
                  <a:srgbClr val="0000FF"/>
                </a:solidFill>
                <a:latin typeface="Times New Roman"/>
                <a:cs typeface="Times New Roman"/>
              </a:rPr>
              <a:t> </a:t>
            </a:r>
            <a:r>
              <a:rPr sz="1800" dirty="0">
                <a:solidFill>
                  <a:srgbClr val="0000FF"/>
                </a:solidFill>
                <a:latin typeface="Times New Roman"/>
                <a:cs typeface="Times New Roman"/>
                <a:hlinkClick r:id="rId6"/>
              </a:rPr>
              <a:t>(NeurIPS),</a:t>
            </a:r>
            <a:r>
              <a:rPr sz="1800" spc="90" dirty="0">
                <a:solidFill>
                  <a:srgbClr val="0000FF"/>
                </a:solidFill>
                <a:latin typeface="Times New Roman"/>
                <a:cs typeface="Times New Roman"/>
              </a:rPr>
              <a:t> </a:t>
            </a:r>
            <a:r>
              <a:rPr sz="1800" dirty="0">
                <a:solidFill>
                  <a:srgbClr val="0000FF"/>
                </a:solidFill>
                <a:latin typeface="Times New Roman"/>
                <a:cs typeface="Times New Roman"/>
                <a:hlinkClick r:id="rId6"/>
              </a:rPr>
              <a:t>vol.</a:t>
            </a:r>
            <a:r>
              <a:rPr sz="1800" spc="75" dirty="0">
                <a:solidFill>
                  <a:srgbClr val="0000FF"/>
                </a:solidFill>
                <a:latin typeface="Times New Roman"/>
                <a:cs typeface="Times New Roman"/>
              </a:rPr>
              <a:t> </a:t>
            </a:r>
            <a:r>
              <a:rPr sz="1800" spc="-25" dirty="0">
                <a:solidFill>
                  <a:srgbClr val="0000FF"/>
                </a:solidFill>
                <a:latin typeface="Times New Roman"/>
                <a:cs typeface="Times New Roman"/>
                <a:hlinkClick r:id="rId6"/>
              </a:rPr>
              <a:t>33,</a:t>
            </a:r>
            <a:endParaRPr sz="1800">
              <a:latin typeface="Times New Roman"/>
              <a:cs typeface="Times New Roman"/>
            </a:endParaRPr>
          </a:p>
          <a:p>
            <a:pPr marL="12700" algn="just">
              <a:lnSpc>
                <a:spcPct val="100000"/>
              </a:lnSpc>
            </a:pPr>
            <a:r>
              <a:rPr sz="1800" u="sng" dirty="0">
                <a:solidFill>
                  <a:srgbClr val="0000FF"/>
                </a:solidFill>
                <a:uFill>
                  <a:solidFill>
                    <a:srgbClr val="0000FF"/>
                  </a:solidFill>
                </a:uFill>
                <a:latin typeface="Times New Roman"/>
                <a:cs typeface="Times New Roman"/>
                <a:hlinkClick r:id="rId6"/>
              </a:rPr>
              <a:t>pp</a:t>
            </a:r>
            <a:r>
              <a:rPr sz="1800" u="sng" dirty="0">
                <a:solidFill>
                  <a:srgbClr val="0000FF"/>
                </a:solidFill>
                <a:uFill>
                  <a:solidFill>
                    <a:srgbClr val="0000FF"/>
                  </a:solidFill>
                </a:uFill>
                <a:latin typeface="Times New Roman"/>
                <a:cs typeface="Times New Roman"/>
              </a:rPr>
              <a:t>. </a:t>
            </a:r>
            <a:r>
              <a:rPr sz="1800" u="sng" dirty="0">
                <a:solidFill>
                  <a:srgbClr val="0000FF"/>
                </a:solidFill>
                <a:uFill>
                  <a:solidFill>
                    <a:srgbClr val="0000FF"/>
                  </a:solidFill>
                </a:uFill>
                <a:latin typeface="Times New Roman"/>
                <a:cs typeface="Times New Roman"/>
                <a:hlinkClick r:id="rId6"/>
              </a:rPr>
              <a:t>9459–9474</a:t>
            </a:r>
            <a:r>
              <a:rPr sz="1800" u="sng" dirty="0">
                <a:solidFill>
                  <a:srgbClr val="0000FF"/>
                </a:solidFill>
                <a:uFill>
                  <a:solidFill>
                    <a:srgbClr val="0000FF"/>
                  </a:solidFill>
                </a:uFill>
                <a:latin typeface="Times New Roman"/>
                <a:cs typeface="Times New Roman"/>
              </a:rPr>
              <a:t>, </a:t>
            </a:r>
            <a:r>
              <a:rPr sz="1800" u="sng" spc="-10" dirty="0">
                <a:solidFill>
                  <a:srgbClr val="0000FF"/>
                </a:solidFill>
                <a:uFill>
                  <a:solidFill>
                    <a:srgbClr val="0000FF"/>
                  </a:solidFill>
                </a:uFill>
                <a:latin typeface="Times New Roman"/>
                <a:cs typeface="Times New Roman"/>
                <a:hlinkClick r:id="rId6"/>
              </a:rPr>
              <a:t>2020.</a:t>
            </a:r>
            <a:endParaRPr sz="180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826889" y="2741167"/>
            <a:ext cx="2538095" cy="635000"/>
          </a:xfrm>
          <a:prstGeom prst="rect">
            <a:avLst/>
          </a:prstGeom>
        </p:spPr>
        <p:txBody>
          <a:bodyPr vert="horz" wrap="square" lIns="0" tIns="12065" rIns="0" bIns="0" rtlCol="0">
            <a:spAutoFit/>
          </a:bodyPr>
          <a:lstStyle/>
          <a:p>
            <a:pPr marL="12700">
              <a:lnSpc>
                <a:spcPct val="100000"/>
              </a:lnSpc>
              <a:spcBef>
                <a:spcPts val="95"/>
              </a:spcBef>
            </a:pPr>
            <a:r>
              <a:rPr sz="4000" b="0" dirty="0">
                <a:solidFill>
                  <a:srgbClr val="000000"/>
                </a:solidFill>
                <a:latin typeface="Arial MT"/>
                <a:cs typeface="Arial MT"/>
              </a:rPr>
              <a:t>Thank</a:t>
            </a:r>
            <a:r>
              <a:rPr sz="4000" b="0" spc="-110" dirty="0">
                <a:solidFill>
                  <a:srgbClr val="000000"/>
                </a:solidFill>
                <a:latin typeface="Arial MT"/>
                <a:cs typeface="Arial MT"/>
              </a:rPr>
              <a:t> </a:t>
            </a:r>
            <a:r>
              <a:rPr sz="4000" b="0" spc="-20" dirty="0">
                <a:solidFill>
                  <a:srgbClr val="000000"/>
                </a:solidFill>
                <a:latin typeface="Arial MT"/>
                <a:cs typeface="Arial MT"/>
              </a:rPr>
              <a:t>you!</a:t>
            </a:r>
            <a:endParaRPr sz="40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367</TotalTime>
  <Words>1266</Words>
  <Application>Microsoft Office PowerPoint</Application>
  <PresentationFormat>Widescreen</PresentationFormat>
  <Paragraphs>130</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MT</vt:lpstr>
      <vt:lpstr>Calibri</vt:lpstr>
      <vt:lpstr>Microsoft Sans Serif</vt:lpstr>
      <vt:lpstr>Times New Roman</vt:lpstr>
      <vt:lpstr>Office Theme</vt:lpstr>
      <vt:lpstr>TRUSTRAG: A Modular Framework for Detecting and Mitigating Hallucinations in Retrieval-Augmented Generation Systems</vt:lpstr>
      <vt:lpstr>CONTENTS</vt:lpstr>
      <vt:lpstr>TRUSTRAG</vt:lpstr>
      <vt:lpstr>ABSTRACT</vt:lpstr>
      <vt:lpstr>INTRODUCTION</vt:lpstr>
      <vt:lpstr>Base Paper</vt:lpstr>
      <vt:lpstr>Literature Review</vt:lpstr>
      <vt:lpstr>Existing Systems</vt:lpstr>
      <vt:lpstr>Proposed System</vt:lpstr>
      <vt:lpstr>Hardware Requirements</vt:lpstr>
      <vt:lpstr>Software Requirements</vt:lpstr>
      <vt:lpstr>ARCHITECTURE DIAGRAM</vt:lpstr>
      <vt:lpstr>CLASS DIAGRAM</vt:lpstr>
      <vt:lpstr>USE CASE DIAGRAM</vt:lpstr>
      <vt:lpstr>SEQUENCE DIAGRAM</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Asha Sheldon</dc:creator>
  <cp:lastModifiedBy>Akash S</cp:lastModifiedBy>
  <cp:revision>6</cp:revision>
  <dcterms:created xsi:type="dcterms:W3CDTF">2026-10-03T11:11:54Z</dcterms:created>
  <dcterms:modified xsi:type="dcterms:W3CDTF">2026-10-04T05:03:23Z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2026-08-01T00:00:00Z</vt:filetime>
  </property>
  <property fmtid="{D5CDD505-2E9C-101B-9397-08002B2CF9AE}" pid="4" name="Creator">
    <vt:lpwstr>Microsoft® PowerPoint® 2021</vt:lpwstr>
  </property>
  <property fmtid="{D5CDD505-2E9C-101B-9397-08002B2CF9AE}" pid="5" name="LastSaved">
    <vt:filetime>2026-10-03T00:00:00Z</vt:filetime>
  </property>
  <property fmtid="{D5CDD505-2E9C-101B-9397-08002B2CF9AE}" pid="6" name="Producer">
    <vt:lpwstr>Microsoft® PowerPoint® 2021</vt:lpwstr>
  </property>
</Properties>
</file>